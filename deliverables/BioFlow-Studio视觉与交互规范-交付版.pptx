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e736aca4634e1f" /><Relationship Type="http://schemas.openxmlformats.org/officeDocument/2006/relationships/extended-properties" Target="/docProps/app.xml" Id="R8b4e3139a99a47f0" /><Relationship Type="http://schemas.openxmlformats.org/officeDocument/2006/relationships/officeDocument" Target="/ppt/presentation.xml" Id="R5e989bb12819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775fd067a4650"/>
  </p:sldMasterIdLst>
  <p:notesMasterIdLst>
    <p:notesMasterId xmlns:r="http://schemas.openxmlformats.org/officeDocument/2006/relationships" r:id="R4dbb400ea16c47a4"/>
  </p:notesMasterIdLst>
  <p:sldIdLst>
    <p:sldId xmlns:r="http://schemas.openxmlformats.org/officeDocument/2006/relationships" id="256" r:id="R180da5179a3f46a9"/>
    <p:sldId xmlns:r="http://schemas.openxmlformats.org/officeDocument/2006/relationships" id="257" r:id="Rde2622856cf24050"/>
    <p:sldId xmlns:r="http://schemas.openxmlformats.org/officeDocument/2006/relationships" id="258" r:id="Rba0624120abc4c6f"/>
    <p:sldId xmlns:r="http://schemas.openxmlformats.org/officeDocument/2006/relationships" id="259" r:id="R95f488c75e8c48b1"/>
    <p:sldId xmlns:r="http://schemas.openxmlformats.org/officeDocument/2006/relationships" id="260" r:id="Re47b5c24024a4824"/>
    <p:sldId xmlns:r="http://schemas.openxmlformats.org/officeDocument/2006/relationships" id="261" r:id="R7b6e24ec9a6d410d"/>
    <p:sldId xmlns:r="http://schemas.openxmlformats.org/officeDocument/2006/relationships" id="262" r:id="R5508f0b179064782"/>
    <p:sldId xmlns:r="http://schemas.openxmlformats.org/officeDocument/2006/relationships" id="263" r:id="Ra3582755557e4403"/>
    <p:sldId xmlns:r="http://schemas.openxmlformats.org/officeDocument/2006/relationships" id="264" r:id="R03774e269cf2444b"/>
    <p:sldId xmlns:r="http://schemas.openxmlformats.org/officeDocument/2006/relationships" id="265" r:id="Rea21b78283fa4fd9"/>
    <p:sldId xmlns:r="http://schemas.openxmlformats.org/officeDocument/2006/relationships" id="266" r:id="R0e3b9908076643f9"/>
    <p:sldId xmlns:r="http://schemas.openxmlformats.org/officeDocument/2006/relationships" id="267" r:id="R938591cad04f44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be82f1a004663" /><Relationship Type="http://schemas.openxmlformats.org/officeDocument/2006/relationships/slideMaster" Target="/ppt/slideMasters/slideMaster1.xml" Id="R73b775fd067a4650" /><Relationship Type="http://schemas.openxmlformats.org/officeDocument/2006/relationships/notesMaster" Target="/ppt/notesMasters/notesMaster1.xml" Id="R4dbb400ea16c47a4" /><Relationship Type="http://schemas.openxmlformats.org/officeDocument/2006/relationships/presProps" Target="/ppt/presProps.xml" Id="R29cbb56f6c79445c" /><Relationship Type="http://schemas.openxmlformats.org/officeDocument/2006/relationships/viewProps" Target="/ppt/viewProps.xml" Id="Rb0dbaa96e22b4695" /><Relationship Type="http://schemas.openxmlformats.org/officeDocument/2006/relationships/tableStyles" Target="/ppt/tableStyles.xml" Id="Ra3d0fac9bb794154" /><Relationship Type="http://schemas.openxmlformats.org/officeDocument/2006/relationships/slide" Target="/ppt/slides/slide1.xml" Id="R180da5179a3f46a9" /><Relationship Type="http://schemas.openxmlformats.org/officeDocument/2006/relationships/slide" Target="/ppt/slides/slide2.xml" Id="Rde2622856cf24050" /><Relationship Type="http://schemas.openxmlformats.org/officeDocument/2006/relationships/slide" Target="/ppt/slides/slide3.xml" Id="Rba0624120abc4c6f" /><Relationship Type="http://schemas.openxmlformats.org/officeDocument/2006/relationships/slide" Target="/ppt/slides/slide4.xml" Id="R95f488c75e8c48b1" /><Relationship Type="http://schemas.openxmlformats.org/officeDocument/2006/relationships/slide" Target="/ppt/slides/slide5.xml" Id="Re47b5c24024a4824" /><Relationship Type="http://schemas.openxmlformats.org/officeDocument/2006/relationships/slide" Target="/ppt/slides/slide6.xml" Id="R7b6e24ec9a6d410d" /><Relationship Type="http://schemas.openxmlformats.org/officeDocument/2006/relationships/slide" Target="/ppt/slides/slide7.xml" Id="R5508f0b179064782" /><Relationship Type="http://schemas.openxmlformats.org/officeDocument/2006/relationships/slide" Target="/ppt/slides/slide8.xml" Id="Ra3582755557e4403" /><Relationship Type="http://schemas.openxmlformats.org/officeDocument/2006/relationships/slide" Target="/ppt/slides/slide9.xml" Id="R03774e269cf2444b" /><Relationship Type="http://schemas.openxmlformats.org/officeDocument/2006/relationships/slide" Target="/ppt/slides/slide10.xml" Id="Rea21b78283fa4fd9" /><Relationship Type="http://schemas.openxmlformats.org/officeDocument/2006/relationships/slide" Target="/ppt/slides/slide11.xml" Id="R0e3b9908076643f9" /><Relationship Type="http://schemas.openxmlformats.org/officeDocument/2006/relationships/slide" Target="/ppt/slides/slide12.xml" Id="R938591cad04f44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c3e5c8314743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60b00e68af4acf" /><Relationship Type="http://schemas.openxmlformats.org/officeDocument/2006/relationships/notesMaster" Target="/ppt/notesMasters/notesMaster1.xml" Id="R27edc7b134f7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2e95fa14546e9" /><Relationship Type="http://schemas.openxmlformats.org/officeDocument/2006/relationships/notesMaster" Target="/ppt/notesMasters/notesMaster1.xml" Id="R72d62557785a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21985b0d884ef9" /><Relationship Type="http://schemas.openxmlformats.org/officeDocument/2006/relationships/notesMaster" Target="/ppt/notesMasters/notesMaster1.xml" Id="R94d9895c0bd2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4ae28b3bdc4913" /><Relationship Type="http://schemas.openxmlformats.org/officeDocument/2006/relationships/notesMaster" Target="/ppt/notesMasters/notesMaster1.xml" Id="Rfe99fb7e816c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9e80cb18e4ed4" /><Relationship Type="http://schemas.openxmlformats.org/officeDocument/2006/relationships/notesMaster" Target="/ppt/notesMasters/notesMaster1.xml" Id="Ra56e6c7c2359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60ea2f75be4e89" /><Relationship Type="http://schemas.openxmlformats.org/officeDocument/2006/relationships/notesMaster" Target="/ppt/notesMasters/notesMaster1.xml" Id="R8b6b596d7b3449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b58c0fb294af8" /><Relationship Type="http://schemas.openxmlformats.org/officeDocument/2006/relationships/notesMaster" Target="/ppt/notesMasters/notesMaster1.xml" Id="Ra2200816fb664c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fc401580b4c4d" /><Relationship Type="http://schemas.openxmlformats.org/officeDocument/2006/relationships/notesMaster" Target="/ppt/notesMasters/notesMaster1.xml" Id="Rf397aad627de4d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9a088f455e4f94" /><Relationship Type="http://schemas.openxmlformats.org/officeDocument/2006/relationships/notesMaster" Target="/ppt/notesMasters/notesMaster1.xml" Id="R9b0b2c126db547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da17a30dec4769" /><Relationship Type="http://schemas.openxmlformats.org/officeDocument/2006/relationships/notesMaster" Target="/ppt/notesMasters/notesMaster1.xml" Id="Rcdb3064e98ce4c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ea214445f34bd2" /><Relationship Type="http://schemas.openxmlformats.org/officeDocument/2006/relationships/notesMaster" Target="/ppt/notesMasters/notesMaster1.xml" Id="R3efd2990aa744a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ee84f1027042b0" /><Relationship Type="http://schemas.openxmlformats.org/officeDocument/2006/relationships/notesMaster" Target="/ppt/notesMasters/notesMaster1.xml" Id="Redea1e884f8d47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8e450794947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687d838374ca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A8FA36-307A-4D9D-94A2-D77AE780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9DDD1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B84F78-FF94-4129-9AE5-5EB4EA22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10528"/>
            <a:ext cx="5029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  <a:endParaRPr sz="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D56873-D3FA-4197-B83C-5422FD6B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510528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视觉与交互规范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BD971B-FD78-4B8C-A08D-748B8A8AA3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7b1b4d49694689" /><Relationship Type="http://schemas.openxmlformats.org/officeDocument/2006/relationships/slideLayout" Target="/ppt/slideLayouts/slideLayout1.xml" Id="Ref24ceaa02494de0" /><Relationship Type="http://schemas.openxmlformats.org/officeDocument/2006/relationships/slideLayout" Target="/ppt/slideLayouts/slideLayout2.xml" Id="R34eab8b2089f47d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A009A66-1A14-4178-9746-46864C19F9F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4ceaa02494de0"/>
    <p:sldLayoutId xmlns:r="http://schemas.openxmlformats.org/officeDocument/2006/relationships" id="2147483650" r:id="R34eab8b2089f47d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f9fe78c154912" /><Relationship Type="http://schemas.openxmlformats.org/officeDocument/2006/relationships/notesSlide" Target="/ppt/notesSlides/notesSlide1.xml" Id="Rda193745d03a4c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58fc3622e4144" /><Relationship Type="http://schemas.openxmlformats.org/officeDocument/2006/relationships/notesSlide" Target="/ppt/notesSlides/notesSlide2.xml" Id="R3cbe985162c0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64982929e4998" /><Relationship Type="http://schemas.openxmlformats.org/officeDocument/2006/relationships/notesSlide" Target="/ppt/notesSlides/notesSlide3.xml" Id="Rf576f66a04684c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49d1e9ce11435e" /><Relationship Type="http://schemas.openxmlformats.org/officeDocument/2006/relationships/notesSlide" Target="/ppt/notesSlides/notesSlide4.xml" Id="R946b3181c71847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dd89786b640eb" /><Relationship Type="http://schemas.openxmlformats.org/officeDocument/2006/relationships/notesSlide" Target="/ppt/notesSlides/notesSlide5.xml" Id="Rded89b7e9c9740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c4bb5139143e2" /><Relationship Type="http://schemas.openxmlformats.org/officeDocument/2006/relationships/notesSlide" Target="/ppt/notesSlides/notesSlide6.xml" Id="R1eab7ddfc2e84e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8ab8e5d81483f" /><Relationship Type="http://schemas.openxmlformats.org/officeDocument/2006/relationships/notesSlide" Target="/ppt/notesSlides/notesSlide7.xml" Id="R6b2aa3a1837b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72ac9822e4629" /><Relationship Type="http://schemas.openxmlformats.org/officeDocument/2006/relationships/notesSlide" Target="/ppt/notesSlides/notesSlide8.xml" Id="R277b136e33fe49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ceb4fb82b42cf" /><Relationship Type="http://schemas.openxmlformats.org/officeDocument/2006/relationships/notesSlide" Target="/ppt/notesSlides/notesSlide9.xml" Id="R63a20c60cbe040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590a30949477c" /><Relationship Type="http://schemas.openxmlformats.org/officeDocument/2006/relationships/notesSlide" Target="/ppt/notesSlides/notesSlide10.xml" Id="R9825cf31f1b1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2264bd7ec94a64" /><Relationship Type="http://schemas.openxmlformats.org/officeDocument/2006/relationships/notesSlide" Target="/ppt/notesSlides/notesSlide11.xml" Id="R008b0b8fe7ff48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28ab4d3c841ef" /><Relationship Type="http://schemas.openxmlformats.org/officeDocument/2006/relationships/notesSlide" Target="/ppt/notesSlides/notesSlide12.xml" Id="Raac9e54e525643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2B7CDF-787D-4A6C-A120-231CF897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436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BIOFLOW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DB487B-6F5D-4764-AF20-9E0BE98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3444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BioFlow Studio</a:t>
            </a:r>
            <a:endParaRPr sz="3200"/>
          </a:p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视觉与交互规范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5A2FF6-702E-44BB-9120-2895B037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697480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面向生命科学研究的可解释智能体工作台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CD5683-8F19-4D0D-A69E-EAE256F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273552"/>
            <a:ext cx="356616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69ED83A-C808-4B7C-9F8A-D441F167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287268"/>
            <a:ext cx="3566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设计目标  ·  让研究问题一路可追踪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FDE6071-C320-40D9-92F7-1D33FDD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024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760743-F6D1-4957-8535-9F13ADCD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9456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研究目标</a:t>
            </a:r>
            <a:endParaRPr sz="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71E2037-BC7D-4A20-BB40-A5A63A1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020824"/>
            <a:ext cx="6400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9F2FB16-D441-4AEE-A8AD-F808F54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6032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519435C-B3D3-43D1-B8DD-F30E55C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3464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数据结构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3040895-CC93-4AD0-954F-175D058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2432304"/>
            <a:ext cx="6400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51A"/>
            </a:solidFill>
            <a:prstDash val="solid"/>
            <a:headEnd type="triangle"/>
            <a:tailEnd type="non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059CBB1-1FC9-4A1B-A341-6660C81B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192024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850F97E-5D82-48FB-A5BC-73354806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19456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证据检索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7B3C2A9-5E23-4BFF-AFFA-BC5C24B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4" y="2020824"/>
            <a:ext cx="6400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268E03E-A6E5-436C-ACFC-5CCCBD74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56032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992AA5-41F3-4593-B6AB-FEF0B6ED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83464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工作流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095A36C-1C3B-4456-861D-538547E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2432304"/>
            <a:ext cx="6400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51A"/>
            </a:solidFill>
            <a:prstDash val="solid"/>
            <a:headEnd type="triangle"/>
            <a:tailEnd type="non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F6DCD9-4BE4-4562-BB3A-C66D5EA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2024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6C079D4-9E46-4D4A-B075-1C3EBC5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19456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结果交付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3637D4-AC29-4164-BFBD-34DF408C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590288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设计原则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24F18E2-1205-4116-99AD-AB1F1F49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956048"/>
            <a:ext cx="7132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证据先行  ·  状态可见  ·  操作可回退  ·  交付可复现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9C0C846-75BB-4440-852C-DC44E97EAE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3705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A194A7-B2E9-495E-AE84-9B424C0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01  产品定位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B6E991-507B-49D6-8FF1-89475CDA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研究人员首先需要确定：我能相信这条分析路径吗？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4011A2-213B-4807-B2E4-C260193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界面承担解释责任，把智能体的判断拆成可检查的证据和可编辑的步骤。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E3BB305-245D-444F-9B2A-DC4C9D5C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3246120" cy="2176272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8AEA1">
                <a:alpha val="12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CA8905-25F9-4AD5-AAB0-534FFF0D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7712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E324985-29E0-4981-A0C0-50FF30DD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1428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研究上下文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A8E9A74-6E50-4C24-8834-BF87EBA7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6624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生命科学语境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4B73E0-EAED-4060-B884-068E86F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8688"/>
            <a:ext cx="2697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物种、组学类型、比较设计和统计方法都影响结论。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692E184-BDAC-4409-9998-9411E035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993392"/>
            <a:ext cx="3246120" cy="2176272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8AEA1">
                <a:alpha val="12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4816D54-AC51-4DA5-A189-7F95D646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267712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4FE89C3-C30A-4A37-AA35-58F9530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281428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决策链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B83472-28F7-4A72-ACBB-8DC0B5D4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706624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智能体语境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28CDD7-D86A-422A-8C30-3B4F09F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218688"/>
            <a:ext cx="2697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先澄清，再检索，再生成计划，最后执行并交付。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FA06762-54E5-4D54-99A8-C338D23E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93392"/>
            <a:ext cx="3246120" cy="2176272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8AEA1">
                <a:alpha val="12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8F7C91-177A-4A55-A6CF-137AC75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67712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C22479-AEAE-4E6C-A1DB-AE0493C2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81428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交互契约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0199A43-902C-4662-A605-7BC3C9FF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706624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前端语境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0B55D1E-AB74-4C13-8710-0289E022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18688"/>
            <a:ext cx="2697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每一次等待、失败和变更都需要即时、可理解的反馈。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F5C1298-A82F-4AC4-941B-195F08E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E1DEB0C-A761-479C-BA03-D5727427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产品判断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58C6766-110B-43CB-A7F3-69511F68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02352"/>
            <a:ext cx="6949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把“黑盒问答”变成“可审计的研究协作”</a:t>
            </a:r>
            <a:endParaRPr sz="2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6388B0-83EE-4B5A-9803-9AA341C6190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4129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406E24-9A62-42EE-BC2E-450ABE7A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02  视觉系统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9BF52A-E0F9-49BC-9DA4-CBBC3311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生命科学产品的视觉关键词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A5D189-95E7-4008-8967-001115CF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克制、可信、带一点实验室的温度，避免通用 SaaS 的蓝紫渐变和密集卡片。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6FF63F8-E5CD-4638-8B21-41F5B5F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7830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8F7F1"/>
          </a:solidFill>
          <a:ln xmlns:a="http://schemas.openxmlformats.org/drawingml/2006/main" w="12700">
            <a:solidFill>
              <a:srgbClr val="F8F7F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75A1CF-416E-410C-A5E3-9FD5ACB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90672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纸张底色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5503D68-774C-40E6-93B0-37E554C1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011680"/>
            <a:ext cx="17830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262823"/>
          </a:solidFill>
          <a:ln xmlns:a="http://schemas.openxmlformats.org/drawingml/2006/main" w="12700">
            <a:solidFill>
              <a:srgbClr val="26282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A578F50-55EB-4528-A755-24CF90A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3090672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石墨文字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A34C62-F371-4159-B016-77BFBDF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011680"/>
            <a:ext cx="17830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8648E1-C32D-4F95-85E6-B7FA2824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090672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酸性黄绿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233B16B-93A9-428F-BECD-D3E3D60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2011680"/>
            <a:ext cx="17830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378DAA-EAD6-4DB8-BF6E-5BBE4CDE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090672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灰绿色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76A809A-9D77-494E-95F0-759795F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011680"/>
            <a:ext cx="17830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43FCCBD-BD43-4387-B78E-4ACD6BD7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90672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证据蓝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65C6EC2-ABF6-4A76-B493-F660EAE9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41648"/>
            <a:ext cx="10561320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1FEBC4E-71FE-408C-A77B-E839E7E0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34256"/>
            <a:ext cx="1143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一眼识别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94044E4-CE04-4BF1-8181-41E5D69A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4279392"/>
            <a:ext cx="8138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标题负责结论，标签负责状态，线条负责关系，留白负责呼吸。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966DEB9-CA06-4181-BDFA-4D608A4F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4773168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在研究目标、RAG 证据和工作流节点之间，始终保持同一套颜色语义。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817E33A-5FCB-42A0-A6AE-12308E69F2F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2927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844D10-8177-4698-8EFC-F4D9F05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03  色彩与字体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52F952-6AB4-41E7-9450-3E90793B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颜色不是装饰，而是状态协议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F66E76-49DA-469C-8F83-CFE15107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同一颜色在不同页面表达同一含义，用户无需重新学习。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93A7B82-A87B-448B-85E3-BDCEA9C9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EA6ECC5-B034-4C57-8F76-A80B9B1D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938528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主行动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B524933-0D2A-4C65-A853-A2E38538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93852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酸性黄绿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E6580B-074C-45AF-9A42-A705B299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9385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批准、运行、保存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3A0AC55-38A0-422C-BD6C-5BFA19CA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423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21901D-29C7-4D20-B293-353258F4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78608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D7A328-67C7-4242-9922-2F03328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596896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证据与链接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1B7168D-D6E9-425F-B1F3-66C336D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596896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证据蓝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64C576D-9FC0-488F-8148-90411829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596896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来源、引用、可追溯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96AAC5A-4A5D-41AF-9598-263B4BB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0815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BD06B27-13DB-4DDD-BB4A-04420EE7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36976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D4EBCB-CE7D-48D3-A406-0891B615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25526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成功完成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0AE215-6E84-45A5-9F8C-91E4DD1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3255264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灰绿色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EC0D4-840E-4179-8049-C26B996E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255264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已完成、可复用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755DF92-44B8-4B35-91EF-A3829714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739896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2933A66-67E6-4B60-AFC5-28EEA3A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95344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5B4A"/>
          </a:solidFill>
          <a:ln xmlns:a="http://schemas.openxmlformats.org/drawingml/2006/main" w="12700">
            <a:solidFill>
              <a:srgbClr val="C85B4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691BB8-1820-4AD7-83DE-799CE6D9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913632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风险与失败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12542CE-3395-4C10-9D11-6129AEC3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391363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砖红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56BA93-5339-4C9B-9FF9-F6447EDD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91363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失败、缺失、需处理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03E11D5-B57C-4BBB-868B-7345386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398264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C8C3CAC-635A-4D58-BC0A-98AF07A3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3168"/>
            <a:ext cx="475488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745C634-6A24-4355-A0DA-3D9C9FB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19472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标题  26–32 pt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1454100-2FD9-47E7-9484-51ADA12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919472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正文  11–14 pt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371488E-BC1A-4C34-BEFF-C1CB6961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773168"/>
            <a:ext cx="553212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35C6765-DDC7-4C25-A1B8-17E3421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4919472"/>
            <a:ext cx="5074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中文优先，英文仅保留 API、基因名和标准方法名</a:t>
            </a:r>
            <a:endParaRPr sz="125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22A9893-B67D-42B3-AD5C-109E2C677DB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675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C8C61F-AA85-4A82-9260-F9FA6B44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04  布局系统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3D4491-C384-4F83-B3CC-F2B1FF5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三栏工作台：导航、推理、检查器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005555-B2EC-4F8B-B2DF-59F7A043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布局随屏幕变化，信息优先级不变。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F02ED3A-3F32-472A-BFB2-D182FE16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594360" cy="329184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56635A"/>
          </a:solidFill>
          <a:ln xmlns:a="http://schemas.openxmlformats.org/drawingml/2006/main" w="10160">
            <a:solidFill>
              <a:srgbClr val="56635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0B53D9-794B-415F-ACC3-04F4B38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26771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3A8"/>
          </a:solidFill>
          <a:ln xmlns:a="http://schemas.openxmlformats.org/drawingml/2006/main" w="12700">
            <a:solidFill>
              <a:srgbClr val="A7B3A8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48405E0-0823-4821-BA42-5333C25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77063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92257C-8A73-40C1-AB02-620E7238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7355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3A8"/>
          </a:solidFill>
          <a:ln xmlns:a="http://schemas.openxmlformats.org/drawingml/2006/main" w="12700">
            <a:solidFill>
              <a:srgbClr val="A7B3A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749E693-0597-4544-92DB-A03C78E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7647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3A8"/>
          </a:solidFill>
          <a:ln xmlns:a="http://schemas.openxmlformats.org/drawingml/2006/main" w="12700">
            <a:solidFill>
              <a:srgbClr val="A7B3A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4530A3-755B-4DC8-8D16-188E6E04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2793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3A8"/>
          </a:solidFill>
          <a:ln xmlns:a="http://schemas.openxmlformats.org/drawingml/2006/main" w="12700">
            <a:solidFill>
              <a:srgbClr val="A7B3A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CD2F0C9-0CEF-463D-9475-2685407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01952"/>
            <a:ext cx="1993392" cy="329184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C879402-D32B-4D22-BA94-C960F8A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176272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任务侧栏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7944985-CE2A-4FD8-8CCD-67525C53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72491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4068DB7-1DB0-46F2-8479-452EE30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2615184"/>
            <a:ext cx="12527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项目与任务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15B2A4-9BEA-4889-A1B9-953716AB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1638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41F12E-227E-499B-82AF-04AE2B21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054096"/>
            <a:ext cx="12527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数据集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714A9AE-36E3-4BCD-9C4D-4421056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02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A675FB-101E-4229-B396-CFD2909E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493008"/>
            <a:ext cx="12527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文件上传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9D4D3A6-D95B-4E12-80D9-5231CA4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0416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894A015-235D-45AB-9A89-2C71B38F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931920"/>
            <a:ext cx="12527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最近运行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BFF35CA-2328-4B11-826B-F4B59CD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901952"/>
            <a:ext cx="502920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E6A4FD6-3BAD-42A5-A4DD-648BCC40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2176272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研究目标  /  智能体对话  /  证据流水线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8E54324-E1E5-4AF3-AA8E-D1523CB8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2624328"/>
            <a:ext cx="443484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59CA032-1C9A-4F7C-9CFE-CDC3679D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6207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比较处理组与对照组的差异表达基因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D15D59A-6F63-4B50-B6D1-1A3FF78F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3822192"/>
            <a:ext cx="443484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26F6F8E-8376-4BBB-87B3-E537F126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133088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5B8FA8"/>
                </a:solidFill>
                <a:latin typeface="PingFang SC"/>
                <a:ea typeface="PingFang SC"/>
                <a:cs typeface="PingFang SC"/>
              </a:rPr>
              <a:t>意图识别   →   检索   →   重排   →   参数绑定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B1B207-54D1-4E9D-AA31-59F8575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01952"/>
            <a:ext cx="2395728" cy="329184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11E4F1-23DE-4B73-B476-A6EA13A7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6272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检查器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D8482A5-FEF3-4464-A136-C947D9C0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51760"/>
            <a:ext cx="59436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7422FB5-4244-4C9C-90D7-B45D93B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547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结果</a:t>
            </a:r>
            <a:endParaRPr sz="9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BD0EF25-A3D4-440B-8F9C-0ABA8F0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51760"/>
            <a:ext cx="59436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D99C464-0744-4D15-8847-259A1A4D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547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代码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534C435-A54A-4778-A403-F54DBCD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51760"/>
            <a:ext cx="59436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59D9C67-3012-4890-AAC8-88287D23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6547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日志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5F3779E-8B9C-4A0E-AEEB-04036D49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46120"/>
            <a:ext cx="1554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当前节点</a:t>
            </a:r>
            <a:endParaRPr sz="1200"/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DESeq2 差异分析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BD3D450-7214-4480-BCA2-FF9A1049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553212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中屏策略：检查器收进抽屉，主工作区保持完整</a:t>
            </a:r>
            <a:endParaRPr sz="1300"/>
          </a:p>
        </p:txBody>
      </p:sp>
      <p:sp>
        <p:nvSpPr>
          <p:cNvPr id="3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0C71388-3EF1-4D2B-8F03-D675D803BDD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01673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0F9CBA-A7B1-4ECB-B2B8-2C2FB5F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05  多端适配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9F028F-FCE6-4820-B9DD-0452B846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同一条研究路径，三种屏幕密度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5D9E8A4-5C94-45FB-8314-7BADFE94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适配不只是缩小组件，而是重新安排任务优先级。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1D241EA-016F-473C-9F00-FA237EA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3090672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8AEA1">
                <a:alpha val="1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2CE7E74-FAAE-479F-8911-5C54A44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3172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大屏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9405C1F-A6D2-4814-AA34-0A7C0CF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331720"/>
            <a:ext cx="109728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3B1977-7C5C-40A6-B2D9-10ECACDD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345436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≥ 1280 px</a:t>
            </a:r>
            <a:endParaRPr sz="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DDC356E-114D-4CAA-9BAF-DA0E8C5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44368"/>
            <a:ext cx="365760" cy="1389888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56635A"/>
          </a:solidFill>
          <a:ln xmlns:a="http://schemas.openxmlformats.org/drawingml/2006/main" w="10160">
            <a:solidFill>
              <a:srgbClr val="56635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F8D61AA-F1F2-496F-9133-EE69F92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944368"/>
            <a:ext cx="1325880" cy="1389888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201D290-0A6D-46EB-A980-63B1CED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44368"/>
            <a:ext cx="621792" cy="1389888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11C524-5A47-4AA3-A19B-0986233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1713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三栏并行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78319AA-5A94-4F4B-932E-B1FDA8CE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011680"/>
            <a:ext cx="3090672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8AEA1">
                <a:alpha val="1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0669CC-1B2F-4095-A80A-C0BFFFBB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33172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中屏</a:t>
            </a:r>
            <a:endParaRPr sz="1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10740A-18C8-471C-8BF0-B26BE2C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31720"/>
            <a:ext cx="109728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08F2C21-2D2D-4C65-988B-73B6C1E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45436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768–1279 px</a:t>
            </a:r>
            <a:endParaRPr sz="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E1C7C37-4F47-44B9-BFD8-96B1906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944368"/>
            <a:ext cx="2542032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68E4DA-B098-464D-A59F-2D86A5E0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154680"/>
            <a:ext cx="667512" cy="978408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05E8473-397A-486F-879D-D10C78D1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51713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检查器抽屉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BD050E8-9DE7-4B57-A97B-2A5C9066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011680"/>
            <a:ext cx="3090672" cy="292608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8AEA1">
                <a:alpha val="12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3169BA5-5A08-47A0-B98A-FD46EDC8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33172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移动端</a:t>
            </a:r>
            <a:endParaRPr sz="18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934C06E-77B9-436F-9E56-A498FB8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2331720"/>
            <a:ext cx="109728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D027E4-FF42-4688-9091-D4E0234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2345436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&lt; 768 px</a:t>
            </a:r>
            <a:endParaRPr sz="9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A3D6CAD-A66E-4F6C-9023-092D7ED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944368"/>
            <a:ext cx="1755648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955ECEC-C168-4F97-BA7E-CE5F3C4B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70332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51631E-01A2-46E4-8675-C0DA5C4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51713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纵向任务流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5BBADE-8D0D-4652-A4FC-394D398D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413248"/>
            <a:ext cx="9966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触控优先：分隔线、节点拖拽和抽屉均使用 Pointer Events</a:t>
            </a:r>
            <a:endParaRPr sz="13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FD406DD-4EA2-4B7F-B1B8-105660C67CB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1133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DED0CD-FB4C-4692-B532-2B5FA74B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06  交互组件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1A123A-B2E2-4E85-A3B1-CE60869F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按钮、弹窗、Toast 都要回答一个问题：操作发生了吗？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73CB68-6553-413E-907E-F7BA5E4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可见反馈、可逆操作和键盘可达性是前端质量的第一印象。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9A72D39-FF26-487A-B42C-5E8FEE95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18745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64A3EC-3459-4585-8202-58532DD0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6856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批准并执行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2E663F-AE6B-4D2E-9DCC-5D2B3B2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16352"/>
            <a:ext cx="1874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主按钮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07C01FB-8BB0-4FB4-81BE-C62F893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148840"/>
            <a:ext cx="18745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E6A659-E733-47F7-BCA0-D8FEB0AD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276856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查看证据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3A48776-C609-4975-ADE4-6ADC6ACC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816352"/>
            <a:ext cx="1874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描边按钮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672B379-EBC7-4A69-A8AB-D3EAF0A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148840"/>
            <a:ext cx="18745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E7DF"/>
          </a:solidFill>
          <a:ln xmlns:a="http://schemas.openxmlformats.org/drawingml/2006/main" w="12700">
            <a:solidFill>
              <a:srgbClr val="E5E7D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0B8114-23F1-49B9-BA47-3E2A06D2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276856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AA096"/>
                </a:solidFill>
                <a:latin typeface="PingFang SC"/>
                <a:ea typeface="PingFang SC"/>
                <a:cs typeface="PingFang SC"/>
              </a:rPr>
              <a:t>等待澄清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4B52D97-9359-423F-B5C5-CD66F1E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2816352"/>
            <a:ext cx="1874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禁用按钮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3154178-FA73-44CA-920F-14E0F70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83280"/>
            <a:ext cx="4663440" cy="1353312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E04E3C-F266-46C9-A879-68FD4049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3639312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弹窗行为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D742F0-3175-4EC7-B2DF-45E0026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40782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F563D74-7B38-4E30-9161-07C2C7B0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3968496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点击空白关闭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7FBF774-AF93-4F69-ADD6-CE2663DE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43525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AB6E9F7-9AD2-45C7-9B02-53C5C784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4242816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Escape 关闭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A3F7EE0-6423-42DA-A8EC-A56C6C24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462686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87B99E7-DD9D-4031-87FC-7C3BAA7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4517136"/>
            <a:ext cx="33101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移动端全屏抽屉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68BB38-E7A8-42A1-B63B-9878282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383280"/>
            <a:ext cx="4663440" cy="1353312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8654CF2-852B-44E5-A741-C1721ED3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3639312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Toast 行为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037510A-DEA1-49B3-81EC-7CE0E673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0782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4456D7E-425A-4ED4-BFC1-34AD4357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968496"/>
            <a:ext cx="34472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成功：已保存布局版本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C51F145-34EB-4250-A43D-CA9D76C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3525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F69858D-EC33-4BE9-9FF4-56FC3ED8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242816"/>
            <a:ext cx="34472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失败：查看原因并重试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DEBD404-A19E-4C2C-B70F-BD508DB9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62686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9398236-B911-4D5C-92C4-3AF92479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517136"/>
            <a:ext cx="34472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等待：显示当前阶段</a:t>
            </a:r>
            <a:endParaRPr sz="120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B55783C-2E3A-47F2-8390-AB0E948D89F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5989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0C845F-13FE-46EE-939D-20E1D67E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07  RAG 全链路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AEC3FC-B8F3-4050-9E06-2EC67037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证据流水线是智能体的可视化骨架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452E11-D2F8-400F-A770-AFD21AA3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用户提问后，前端把每个阶段变成可点击的状态节点。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268899-EFDD-47C6-A1D8-09988D3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3591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A7BA9C-841E-4CE3-93D5-233B43F1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432304"/>
            <a:ext cx="3474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F7709F-7739-4A91-9B90-C981553C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6642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意图识别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19D7FB-268B-44C9-A79B-B45B25E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10128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研究问题 → 分析意图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75BA9F5-5845-4AB9-ACE0-33B9039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253288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3A4793-68CA-4867-B0EA-B92B0A6C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3591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61934E-6530-4FBE-A6F4-E220569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432304"/>
            <a:ext cx="3474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390700-A376-49B5-998C-F6F348BA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926080"/>
            <a:ext cx="16642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知识检索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3F8803-930C-498A-8C5C-30E8BC02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310128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技能包 / 文献 / 项目文件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D7DF1BE-121B-4C35-BB66-5BCCBAF1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3288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C26E576-11E3-457F-ADFB-1B90D04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3591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D6F6A83-B9EC-4D55-8320-D3B92B53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432304"/>
            <a:ext cx="3474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A511C2-69B3-471F-B449-5F1CCC4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926080"/>
            <a:ext cx="16642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重排与过滤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E710BD-5303-482F-BEA0-3D35E8C6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310128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相关性、时效性、可信度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EF3909F-5831-488B-86BC-1C4D1A5D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53288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C21D38E-9CEB-46DE-BF2E-6AF2D1B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3591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C7FF7-9860-4575-83F3-8E8ACC53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432304"/>
            <a:ext cx="3474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A1F459D-9DD4-4B55-B91B-36001D59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2926080"/>
            <a:ext cx="16642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参数绑定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D61C91D-AAC4-4116-88FA-4F889DEF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310128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比较组、物种、阈值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82FCE6B-7835-41A6-8CCF-ECFF50A6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253288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89AED2-237D-4A4B-8C4A-F70338AD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591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1A87593-5170-4BBE-BB63-286C35B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32304"/>
            <a:ext cx="3474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BD3BAF0-BEC6-46A3-B307-E489164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2926080"/>
            <a:ext cx="16642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计划生成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8DFF83B-BC66-46FC-9F0F-89255B8E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310128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步骤、工具、交付物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CBDB060-6DF7-465D-A922-2DCF40FD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15968"/>
            <a:ext cx="9692640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5191710-46A9-48B9-A4C9-0703C557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99432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交互亮点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697E4AA-5655-4D14-AB3D-C449E7D1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544568"/>
            <a:ext cx="7818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点击任一步，检查器展示来源、命中片段、重排分数与最终绑定参数。</a:t>
            </a:r>
            <a:endParaRPr sz="145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9DB927B-1CE9-46EF-8E86-AB310363A82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5928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272E45-2FD9-4EF5-9855-1A95421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08  工作流与交付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2E0A18-AA69-4DCB-8CC7-81162FB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画布让智能体的计划变成可配置资产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B9A0F2-9AB9-4B42-9064-BC28F60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节点负责动作，边负责依赖，版本负责复盘。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CE1EEC3-9B42-41EA-87E4-6602EB86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34640"/>
            <a:ext cx="157276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5663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863569-FC24-4513-B6E7-D6D8B30A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944368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输入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0E8641-153C-4D60-88FB-87CF3A12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218688"/>
            <a:ext cx="13258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counts.csv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C3DB27-7567-4F5A-94DA-8437E916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606040"/>
            <a:ext cx="621792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6635A"/>
            </a:solidFill>
            <a:prstDash val="solid"/>
            <a:headEnd type="triangle"/>
            <a:tailEnd type="non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5A651E3-9B15-43A3-BD02-AE8CAB90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0280"/>
            <a:ext cx="157276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5B8FA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648E30-BB02-4757-8E9A-4BD8798D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2350008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B8FA8"/>
                </a:solidFill>
                <a:latin typeface="PingFang SC"/>
                <a:ea typeface="PingFang SC"/>
                <a:cs typeface="PingFang SC"/>
              </a:rPr>
              <a:t>设计矩阵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78654A-4551-43A4-AED3-B493F68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2624328"/>
            <a:ext cx="13258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condition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36D14C9-144C-40FB-A497-A6D5490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606040"/>
            <a:ext cx="621792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6635A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1A59343-52F2-43F9-9B7A-029D577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834640"/>
            <a:ext cx="157276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0160">
            <a:solidFill>
              <a:srgbClr val="69751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53DE0A-B372-4F77-AA5F-C7728D96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944368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差异分析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46CD0A7-9E25-4BA5-A344-7BEEFF6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218688"/>
            <a:ext cx="13258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DESeq2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27205BC-CB9C-41C9-8703-7B982D3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606040"/>
            <a:ext cx="621792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6635A"/>
            </a:solidFill>
            <a:prstDash val="solid"/>
            <a:headEnd type="triangle"/>
            <a:tailEnd type="non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C7F503-9FF7-4AAF-A40D-CE565017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240280"/>
            <a:ext cx="157276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56635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CE165F-AD8B-4CC1-B869-81DC2EB8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350008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交付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D44DFBA-27E8-4246-9B25-9A6EE72B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624328"/>
            <a:ext cx="13258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火山图 + 报告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D83A808-348D-4C88-9C8B-94AE96B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115568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DB6B3A-C2CC-4CD8-8BE0-6E56D538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65676"/>
            <a:ext cx="11155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拖拽节点</a:t>
            </a:r>
            <a:endParaRPr sz="9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624AF6B-6241-4CC4-B78D-08B5524A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1960"/>
            <a:ext cx="123444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FAE293-E944-4C94-8118-494C2D60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5676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缩放 / 平移</a:t>
            </a:r>
            <a:endParaRPr sz="9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AC09A69-FA2F-4D59-9987-1C91956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251960"/>
            <a:ext cx="1115568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4D226CE-E778-4C46-B788-0329C9A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265676"/>
            <a:ext cx="11155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保存版本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573394-1031-45A5-B15A-EB5A529E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251960"/>
            <a:ext cx="11887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FEB"/>
          </a:solidFill>
          <a:ln xmlns:a="http://schemas.openxmlformats.org/drawingml/2006/main" w="12700">
            <a:solidFill>
              <a:srgbClr val="FBEF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0213898-230B-49BB-ACB0-B8B7075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265676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85B4A"/>
                </a:solidFill>
                <a:latin typeface="PingFang SC"/>
                <a:ea typeface="PingFang SC"/>
                <a:cs typeface="PingFang SC"/>
              </a:rPr>
              <a:t>失败可重试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329F8DD-8005-4D34-AFD1-311EC7BA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79392"/>
            <a:ext cx="15727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3D 结构预览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159A8A5-5BED-4545-9A5F-33BD6AE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57200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CD6AE2C-1C4E-4E22-BCA9-BEB5C167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4480560"/>
            <a:ext cx="32004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4BF2D23-5F6C-4E21-8BD5-A63A6D7A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7083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998E470-4F2E-4849-BC49-12EC1C0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462272"/>
            <a:ext cx="32004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C3034A2-0DC9-459B-A2F2-2C02508C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468172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00C72DB-A8C4-44A0-8E89-6F30501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590288"/>
            <a:ext cx="32004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A2CC71C-27E8-4660-8CDD-C59AD6D5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42569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A8"/>
          </a:solidFill>
          <a:ln xmlns:a="http://schemas.openxmlformats.org/drawingml/2006/main" w="12700">
            <a:solidFill>
              <a:srgbClr val="5B8FA8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2180F8A-345A-4183-9240-E0C6FDE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6" y="4517136"/>
            <a:ext cx="32004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8A996A5-541E-45DA-A5DA-4C33277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7548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13E82EE-47E8-44C4-B47C-EEAB12EECDA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6237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02E70F1-2002-4458-B2D3-4B48F4A8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09  运行反馈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5B6B54-2B79-4300-9225-3CAAF3F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粒子 Loading 与流式代码，让等待变成过程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A4F08B-9323-40E9-801B-3AEA8175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运行中的用户需要知道系统在做什么，以及下一步什么时候到来。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23DB6C8-488D-421F-9AEB-E13F0159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74904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262823"/>
          </a:solidFill>
          <a:ln xmlns:a="http://schemas.openxmlformats.org/drawingml/2006/main" w="10160">
            <a:solidFill>
              <a:srgbClr val="26282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8B6E8C-9E4E-4730-88BB-258D6589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31720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正在构建设计矩阵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53CF2D-23FE-49B4-A306-B17A927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461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BB7E97-D14D-4A99-9676-A37C5EF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9443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D5E2256-0400-4196-9FEE-4EC3FA0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40156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C9DF034-5732-4216-8A06-458C22F7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99923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E2E6B4E-4238-43FA-A1CB-284197A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32841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11A1BE8-2BA6-4AB9-94F2-AF6222D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710BB09-7B0C-4569-A24B-979E22F7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2999232"/>
            <a:ext cx="411480" cy="301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CD5C0BA-8EEC-4626-833D-7F9AD7D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2999232"/>
            <a:ext cx="4572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66ECCF4-6423-4EA6-981E-CA5510D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054096"/>
            <a:ext cx="45720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2C68949-A931-4E09-89D8-7A454183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054096"/>
            <a:ext cx="384048" cy="3291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CBCF66C-21DA-4D1E-B3BC-A59CD373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383280"/>
            <a:ext cx="1252728" cy="557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AD25E26-C1AA-433B-BE27-2E7F34E5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87952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C9D5C9"/>
                </a:solidFill>
                <a:latin typeface="PingFang SC"/>
                <a:ea typeface="PingFang SC"/>
                <a:cs typeface="PingFang SC"/>
              </a:rPr>
              <a:t>检索 → 解析 → 绑定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DF7AA26-9CA7-4342-AEFF-14168A9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626364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B28D5CE-8F0C-4317-897E-F61639BB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26771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代码流式输出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EA0B473-6508-49E9-B524-06436C16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770632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01   import pandas as pd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BE225E3-7B83-4948-827C-C6B2F2A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3163824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02   design = build_design(metadata)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90F3B7E-BA46-4046-B386-C80820B5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3557016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03   dds = run_deseq2(counts, design)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FEBA83-CFF6-4D7A-B7FD-1F5F78A6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3950208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04   plot = volcano(dds, padj &lt; 0.05)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ADF666-E0C1-47BC-9E79-EC3027C6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5257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每段代码绑定到节点、参数和证据，用户可以复制、下载或回到来源。</a:t>
            </a:r>
            <a:endParaRPr sz="11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340261F-6567-4064-BAE8-A1B3B5201B6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6253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E10B15-0A94-417E-A5F7-D789E09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10  可访问性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D94662-C293-4F8B-B6DC-F7AD663B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研究工具也要让每个人都能稳稳用起来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AB2ED5-28B9-46CD-BFBF-05A7155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可访问性不是额外功能，而是复杂工作流的容错层。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CA33075-718D-4145-A406-718C92F7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116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B21BFE-EA40-4691-9619-22F999A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20240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键盘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E086DF-6B10-4132-8FAA-45196F3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20240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Tab 顺序覆盖导航、对话、画布和检查器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49BF9B5-8918-4C1F-91E1-3AF883E7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11096"/>
            <a:ext cx="205740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7F44CD-D0EC-4ACC-A7ED-558317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4812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焦点环 + Escape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8037E8-D8BD-4775-9E95-2199A6B1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2491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F9035B6-A30C-43BD-B99D-16608A5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3347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触控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36EC94-52BD-42D0-AF27-D317AFC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33472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拖拽边界、节点和画布使用 Pointer Events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DB9F73F-2426-4019-B3D7-D8C23DC7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24328"/>
            <a:ext cx="205740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63C0D8D-8E75-4FE3-9066-AC4EA9D3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38044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44 px 触控目标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B99C2AA-7A05-491F-B085-474E712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381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9707C4D-DB5A-4495-8EC9-5067994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46704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状态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DF1B0B5-94A6-4DD0-97E4-4515BD39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46704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颜色之外同时提供文字、图标和进度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FCAE9DE-6C6C-46AC-820A-2F901CD1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37560"/>
            <a:ext cx="205740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6D63D"/>
          </a:solidFill>
          <a:ln xmlns:a="http://schemas.openxmlformats.org/drawingml/2006/main" w="12700">
            <a:solidFill>
              <a:srgbClr val="C6D63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0517597-E85C-4F92-8E7E-659DA069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51276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成功 / 失败可辨</a:t>
            </a:r>
            <a:endParaRPr sz="9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E230661-2EF3-4052-89D8-7D1BD2F3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5137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5A"/>
          </a:solidFill>
          <a:ln xmlns:a="http://schemas.openxmlformats.org/drawingml/2006/main" w="12700">
            <a:solidFill>
              <a:srgbClr val="56635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6EE445F-4E3E-4E5D-83B3-89AD5A7C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059936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语言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A01241E-4D48-4AA3-91E4-2BDB950B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59936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中文解释优先，保留标准方法名和基因符号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59AB1B2-CA35-490B-82D1-F325B90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050792"/>
            <a:ext cx="205740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2700">
            <a:solidFill>
              <a:srgbClr val="E6EEE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7E8A318-A2EE-4C79-A57D-5385940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0645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6635A"/>
                </a:solidFill>
                <a:latin typeface="PingFang SC"/>
                <a:ea typeface="PingFang SC"/>
                <a:cs typeface="PingFang SC"/>
              </a:rPr>
              <a:t>术语一致</a:t>
            </a:r>
            <a:endParaRPr sz="9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38BDD06-3CB1-400B-9EF2-0B8F839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80"/>
            <a:ext cx="10332720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13F33F8-9736-4EA2-B04C-EC331D4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6360"/>
            <a:ext cx="9784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验收标准：任何关键动作都能通过鼠标、键盘或触控完成，并在 200 ms 内给出反馈。</a:t>
            </a:r>
            <a:endParaRPr sz="13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92E3B7B-35C8-4493-B016-7A031D653ED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04748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AF3829-CB06-460E-8958-79473E07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11  规范落地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AA8083-2C7B-43E7-B225-127E3678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106070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Do / Don’t：让每次迭代都保持同一套产品判断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C79EDF-BE4F-4E54-8AE1-B0ECE04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72786E"/>
                </a:solidFill>
                <a:latin typeface="PingFang SC"/>
                <a:ea typeface="PingFang SC"/>
                <a:cs typeface="PingFang SC"/>
              </a:rPr>
              <a:t>最后一页是给设计、前端和面试演示共同使用的检查表。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19E4375-A3E0-426C-AEAB-21A9014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83480" cy="333756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2731FFF-5959-4C39-90B1-1360626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4028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DO  建议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86255A-2F98-451F-A1C8-A48A166E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7121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7B92BE-BB31-48EC-8E5D-6E3D3FC8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61488"/>
            <a:ext cx="38130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把证据和参数放在同一条可追踪路径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0A4B02-E240-40E1-A298-657C2D94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4670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291A18-2862-4F26-AA18-294E58AF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236976"/>
            <a:ext cx="38130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用状态、进度和可逆操作降低等待焦虑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015B5F0-456C-4DF1-B133-019FEE0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221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60F64C9-CEA1-4163-875F-E83E89FC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12464"/>
            <a:ext cx="38130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组件拆分成可复用的业务积木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671FD1-677C-4C98-8971-E6AD02C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976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36F731-ADD3-4F64-9EFF-0AE858E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187952"/>
            <a:ext cx="38130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用真实研究任务验证交互闭环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9510534-C09F-448C-A6FF-203C4E44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01952"/>
            <a:ext cx="4983480" cy="333756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DD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643C7F-2FA7-42D8-AB09-CE050108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40280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C85B4A"/>
                </a:solidFill>
                <a:latin typeface="PingFang SC"/>
                <a:ea typeface="PingFang SC"/>
                <a:cs typeface="PingFang SC"/>
              </a:rPr>
              <a:t>DON’T  避免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CB73819-EDE9-4FCA-9360-047EDE19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7121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ECA8AE-461B-441F-B5D2-EB247D0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761488"/>
            <a:ext cx="376732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只展示最终图表，不解释如何得到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7409A52-71E3-4DC7-99A6-B27D11F0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4670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64F6A3D-CC63-42A4-815C-928203E0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236976"/>
            <a:ext cx="376732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用静态文案模拟运行状态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22B5843-D55A-45F5-8A5C-4A4E1F1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221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52482DC-ABE8-4C1D-A8BD-E828ED2D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712464"/>
            <a:ext cx="376732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把所有业务逻辑堆在一个页面文件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605B9C4-C178-4F0B-A429-443F95A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976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51A"/>
          </a:solidFill>
          <a:ln xmlns:a="http://schemas.openxmlformats.org/drawingml/2006/main" w="12700">
            <a:solidFill>
              <a:srgbClr val="69751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575F24-16DF-41D9-9FF7-91A9902C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187952"/>
            <a:ext cx="376732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262823"/>
                </a:solidFill>
                <a:latin typeface="PingFang SC"/>
                <a:ea typeface="PingFang SC"/>
                <a:cs typeface="PingFang SC"/>
              </a:rPr>
              <a:t>中英文混排，导致术语和层级失控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F2FD3E-0167-405C-9815-8AE09854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9280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69751A"/>
                </a:solidFill>
                <a:latin typeface="PingFang SC"/>
                <a:ea typeface="PingFang SC"/>
                <a:cs typeface="PingFang SC"/>
              </a:rPr>
              <a:t>BioFlow Studio  ·  让生命科学分析从问题到交付保持可见、可配、可复现</a:t>
            </a:r>
            <a:endParaRPr sz="16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F5974F1-1876-4009-97B0-E0B0DD9D641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22608" y="650138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3509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2026-09-06T18:59:38.0660000Z</dcterms:created>
  <dcterms:modified xsi:type="dcterms:W3CDTF">2026-09-06T18:59:38.0670000Z</dcterms:modified>
</coreProperties>
</file>