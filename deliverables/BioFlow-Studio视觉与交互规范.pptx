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46520"/>
            <a:ext cx="11109960" cy="0"/>
          </a:xfrm>
          <a:prstGeom prst="line">
            <a:avLst/>
          </a:prstGeom>
          <a:noFill/>
          <a:ln w="8890">
            <a:solidFill>
              <a:srgbClr val="D9DDD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51052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278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BIOFLOW STUDIO  /  生命科学智能体工作台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9418320" y="6510528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278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视觉与交互规范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2786E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2786E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94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975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BIOFLOW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58368" y="1234440"/>
            <a:ext cx="6766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6282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BioFlow Studio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26282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视觉与交互规范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94944" y="26974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7278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面向生命科学研究的可解释智能体工作台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94944" y="3273552"/>
            <a:ext cx="3566160" cy="274320"/>
          </a:xfrm>
          <a:prstGeom prst="roundRect">
            <a:avLst>
              <a:gd name="adj" fmla="val 20000"/>
            </a:avLst>
          </a:prstGeom>
          <a:solidFill>
            <a:srgbClr val="C6D63D"/>
          </a:solidFill>
          <a:ln w="12700">
            <a:solidFill>
              <a:srgbClr val="C6D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" y="328726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975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设计目标  ·  让研究问题一路可追踪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629400" y="1920240"/>
            <a:ext cx="210312" cy="210312"/>
          </a:xfrm>
          <a:prstGeom prst="ellipse">
            <a:avLst/>
          </a:prstGeom>
          <a:solidFill>
            <a:srgbClr val="56635A"/>
          </a:solidFill>
          <a:ln w="12700">
            <a:solidFill>
              <a:srgbClr val="5663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36792" y="21945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6282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研究目标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830568" y="2020824"/>
            <a:ext cx="640080" cy="228600"/>
          </a:xfrm>
          <a:prstGeom prst="line">
            <a:avLst/>
          </a:prstGeom>
          <a:noFill/>
          <a:ln w="15240">
            <a:solidFill>
              <a:srgbClr val="69751A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562088" y="2560320"/>
            <a:ext cx="210312" cy="210312"/>
          </a:xfrm>
          <a:prstGeom prst="ellipse">
            <a:avLst/>
          </a:prstGeom>
          <a:solidFill>
            <a:srgbClr val="56635A"/>
          </a:solidFill>
          <a:ln w="12700">
            <a:solidFill>
              <a:srgbClr val="5663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69480" y="28346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6282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数据结构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763256" y="2432304"/>
            <a:ext cx="640080" cy="228600"/>
          </a:xfrm>
          <a:prstGeom prst="line">
            <a:avLst/>
          </a:prstGeom>
          <a:noFill/>
          <a:ln w="15240">
            <a:solidFill>
              <a:srgbClr val="69751A"/>
            </a:solidFill>
            <a:prstDash val="solid"/>
            <a:headEnd type="triangl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8494776" y="1920240"/>
            <a:ext cx="210312" cy="210312"/>
          </a:xfrm>
          <a:prstGeom prst="ellipse">
            <a:avLst/>
          </a:prstGeom>
          <a:solidFill>
            <a:srgbClr val="69751A"/>
          </a:solidFill>
          <a:ln w="12700">
            <a:solidFill>
              <a:srgbClr val="6975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02168" y="21945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6282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证据检索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695944" y="2020824"/>
            <a:ext cx="640080" cy="228600"/>
          </a:xfrm>
          <a:prstGeom prst="line">
            <a:avLst/>
          </a:prstGeom>
          <a:noFill/>
          <a:ln w="15240">
            <a:solidFill>
              <a:srgbClr val="69751A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427464" y="2560320"/>
            <a:ext cx="210312" cy="210312"/>
          </a:xfrm>
          <a:prstGeom prst="ellipse">
            <a:avLst/>
          </a:prstGeom>
          <a:solidFill>
            <a:srgbClr val="56635A"/>
          </a:solidFill>
          <a:ln w="12700">
            <a:solidFill>
              <a:srgbClr val="5663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34856" y="28346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6282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工作流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628632" y="2432304"/>
            <a:ext cx="640080" cy="228600"/>
          </a:xfrm>
          <a:prstGeom prst="line">
            <a:avLst/>
          </a:prstGeom>
          <a:noFill/>
          <a:ln w="15240">
            <a:solidFill>
              <a:srgbClr val="69751A"/>
            </a:solidFill>
            <a:prstDash val="solid"/>
            <a:headEnd type="triangl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10360152" y="1920240"/>
            <a:ext cx="210312" cy="210312"/>
          </a:xfrm>
          <a:prstGeom prst="ellipse">
            <a:avLst/>
          </a:prstGeom>
          <a:solidFill>
            <a:srgbClr val="56635A"/>
          </a:solidFill>
          <a:ln w="12700">
            <a:solidFill>
              <a:srgbClr val="5663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67544" y="21945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6282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结果交付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94944" y="45902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975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设计原则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94944" y="4956048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6282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证据先行  ·  状态可见  ·  操作可回退  ·  交付可复现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2786E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975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 产品定位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6282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研究人员首先需要确定：我能相信这条分析路径吗？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1316736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7278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界面承担解释责任，把智能体的判断拆成可检查的证据和可编辑的步骤。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1993392"/>
            <a:ext cx="3246120" cy="2176272"/>
          </a:xfrm>
          <a:prstGeom prst="roundRect">
            <a:avLst>
              <a:gd name="adj" fmla="val 3361"/>
            </a:avLst>
          </a:prstGeom>
          <a:solidFill>
            <a:srgbClr val="FFFFFF"/>
          </a:solidFill>
          <a:ln w="10160">
            <a:solidFill>
              <a:srgbClr val="D9DDD1"/>
            </a:solidFill>
            <a:prstDash val="solid"/>
          </a:ln>
          <a:effectLst>
            <a:outerShdw sx="100000" sy="100000" kx="0" ky="0" algn="bl" rotWithShape="0" blurRad="12700" dist="50800" dir="2700000">
              <a:srgbClr val="A8AEA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267712"/>
            <a:ext cx="960120" cy="274320"/>
          </a:xfrm>
          <a:prstGeom prst="roundRect">
            <a:avLst>
              <a:gd name="adj" fmla="val 20000"/>
            </a:avLst>
          </a:prstGeom>
          <a:solidFill>
            <a:srgbClr val="E6EEE8"/>
          </a:solidFill>
          <a:ln w="12700">
            <a:solidFill>
              <a:srgbClr val="E6E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281428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663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研究上下文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270662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6282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生命科学语境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3218688"/>
            <a:ext cx="2697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7278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物种、组学类型、比较设计和统计方法都影响结论。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89120" y="1993392"/>
            <a:ext cx="3246120" cy="2176272"/>
          </a:xfrm>
          <a:prstGeom prst="roundRect">
            <a:avLst>
              <a:gd name="adj" fmla="val 3361"/>
            </a:avLst>
          </a:prstGeom>
          <a:solidFill>
            <a:srgbClr val="E6EEE8"/>
          </a:solidFill>
          <a:ln w="10160">
            <a:solidFill>
              <a:srgbClr val="D9DDD1"/>
            </a:solidFill>
            <a:prstDash val="solid"/>
          </a:ln>
          <a:effectLst>
            <a:outerShdw sx="100000" sy="100000" kx="0" ky="0" algn="bl" rotWithShape="0" blurRad="12700" dist="50800" dir="2700000">
              <a:srgbClr val="A8AEA1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45152" y="2267712"/>
            <a:ext cx="960120" cy="274320"/>
          </a:xfrm>
          <a:prstGeom prst="roundRect">
            <a:avLst>
              <a:gd name="adj" fmla="val 20000"/>
            </a:avLst>
          </a:prstGeom>
          <a:solidFill>
            <a:srgbClr val="C6D63D"/>
          </a:solidFill>
          <a:ln w="12700">
            <a:solidFill>
              <a:srgbClr val="C6D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45152" y="2281428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663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决策链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645152" y="270662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6282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智能体语境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45152" y="3218688"/>
            <a:ext cx="2697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7278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先澄清，再检索，再生成计划，最后执行并交付。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19872" y="1993392"/>
            <a:ext cx="3246120" cy="2176272"/>
          </a:xfrm>
          <a:prstGeom prst="roundRect">
            <a:avLst>
              <a:gd name="adj" fmla="val 3361"/>
            </a:avLst>
          </a:prstGeom>
          <a:solidFill>
            <a:srgbClr val="FFFFFF"/>
          </a:solidFill>
          <a:ln w="10160">
            <a:solidFill>
              <a:srgbClr val="D9DDD1"/>
            </a:solidFill>
            <a:prstDash val="solid"/>
          </a:ln>
          <a:effectLst>
            <a:outerShdw sx="100000" sy="100000" kx="0" ky="0" algn="bl" rotWithShape="0" blurRad="12700" dist="50800" dir="2700000">
              <a:srgbClr val="A8AEA1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75904" y="2267712"/>
            <a:ext cx="960120" cy="274320"/>
          </a:xfrm>
          <a:prstGeom prst="roundRect">
            <a:avLst>
              <a:gd name="adj" fmla="val 20000"/>
            </a:avLst>
          </a:prstGeom>
          <a:solidFill>
            <a:srgbClr val="E6EEE8"/>
          </a:solidFill>
          <a:ln w="12700">
            <a:solidFill>
              <a:srgbClr val="E6E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75904" y="2281428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663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交互契约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75904" y="270662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6282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前端语境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375904" y="3218688"/>
            <a:ext cx="2697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7278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每一次等待、失败和变更都需要即时、可理解的反馈。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1005840" y="4956048"/>
            <a:ext cx="9784080" cy="0"/>
          </a:xfrm>
          <a:prstGeom prst="line">
            <a:avLst/>
          </a:prstGeom>
          <a:noFill/>
          <a:ln w="19050">
            <a:solidFill>
              <a:srgbClr val="69751A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658368" y="51937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975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产品判断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828800" y="5102352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6282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把“黑盒问答”变成“可审计的研究协作”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2786E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975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 视觉系统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6282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生命科学产品的视觉关键词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1316736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7278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克制、可信、带一点实验室的温度，避免通用 SaaS 的蓝紫渐变和密集卡片。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1783080" cy="1417320"/>
          </a:xfrm>
          <a:prstGeom prst="roundRect">
            <a:avLst>
              <a:gd name="adj" fmla="val 3871"/>
            </a:avLst>
          </a:prstGeom>
          <a:solidFill>
            <a:srgbClr val="F8F7F1"/>
          </a:solidFill>
          <a:ln w="12700">
            <a:solidFill>
              <a:srgbClr val="F8F7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3090672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6282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纸张底色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907792" y="2011680"/>
            <a:ext cx="1783080" cy="1417320"/>
          </a:xfrm>
          <a:prstGeom prst="roundRect">
            <a:avLst>
              <a:gd name="adj" fmla="val 3871"/>
            </a:avLst>
          </a:prstGeom>
          <a:solidFill>
            <a:srgbClr val="262823"/>
          </a:solidFill>
          <a:ln w="12700">
            <a:solidFill>
              <a:srgbClr val="2628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72384" y="3090672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石墨文字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84064" y="2011680"/>
            <a:ext cx="1783080" cy="1417320"/>
          </a:xfrm>
          <a:prstGeom prst="roundRect">
            <a:avLst>
              <a:gd name="adj" fmla="val 3871"/>
            </a:avLst>
          </a:prstGeom>
          <a:solidFill>
            <a:srgbClr val="C6D63D"/>
          </a:solidFill>
          <a:ln w="12700">
            <a:solidFill>
              <a:srgbClr val="C6D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48656" y="3090672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6282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酸性黄绿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260336" y="2011680"/>
            <a:ext cx="1783080" cy="1417320"/>
          </a:xfrm>
          <a:prstGeom prst="roundRect">
            <a:avLst>
              <a:gd name="adj" fmla="val 3871"/>
            </a:avLst>
          </a:prstGeom>
          <a:solidFill>
            <a:srgbClr val="56635A"/>
          </a:solidFill>
          <a:ln w="12700">
            <a:solidFill>
              <a:srgbClr val="5663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24928" y="3090672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灰绿色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436608" y="2011680"/>
            <a:ext cx="1783080" cy="1417320"/>
          </a:xfrm>
          <a:prstGeom prst="roundRect">
            <a:avLst>
              <a:gd name="adj" fmla="val 3871"/>
            </a:avLst>
          </a:prstGeom>
          <a:solidFill>
            <a:srgbClr val="5B8FA8"/>
          </a:solidFill>
          <a:ln w="12700">
            <a:solidFill>
              <a:srgbClr val="5B8F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0" y="3090672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证据蓝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4041648"/>
            <a:ext cx="10561320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0160">
            <a:solidFill>
              <a:srgbClr val="D9DDD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" y="43342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975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一眼识别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21408" y="4279392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6282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标题负责结论，标签负责状态，线条负责关系，留白负责呼吸。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2139696" y="4773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7278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在研究目标、RAG 证据和工作流节点之间，始终保持同一套颜色语义。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2786E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975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  色彩与字体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6282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颜色不是装饰，而是状态协议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1316736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7278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同一颜色在不同页面表达同一含义，用户无需重新学习。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6D63D"/>
          </a:solidFill>
          <a:ln w="12700">
            <a:solidFill>
              <a:srgbClr val="C6D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89888" y="19385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6282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主行动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127248" y="19385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278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酸性黄绿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504688" y="193852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6282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批准、运行、保存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389888" y="2423160"/>
            <a:ext cx="8412480" cy="0"/>
          </a:xfrm>
          <a:prstGeom prst="line">
            <a:avLst/>
          </a:prstGeom>
          <a:noFill/>
          <a:ln w="8890">
            <a:solidFill>
              <a:srgbClr val="D9DDD1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777240" y="257860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5B8FA8"/>
          </a:solidFill>
          <a:ln w="12700">
            <a:solidFill>
              <a:srgbClr val="5B8F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89888" y="259689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6282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证据与链接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127248" y="25968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278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证据蓝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504688" y="259689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6282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来源、引用、可追溯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389888" y="3081528"/>
            <a:ext cx="8412480" cy="0"/>
          </a:xfrm>
          <a:prstGeom prst="line">
            <a:avLst/>
          </a:prstGeom>
          <a:noFill/>
          <a:ln w="8890">
            <a:solidFill>
              <a:srgbClr val="D9DDD1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777240" y="323697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56635A"/>
          </a:solidFill>
          <a:ln w="12700">
            <a:solidFill>
              <a:srgbClr val="5663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89888" y="325526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6282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成功完成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127248" y="32552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278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灰绿色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504688" y="325526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6282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已完成、可复用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389888" y="3739896"/>
            <a:ext cx="8412480" cy="0"/>
          </a:xfrm>
          <a:prstGeom prst="line">
            <a:avLst/>
          </a:prstGeom>
          <a:noFill/>
          <a:ln w="8890">
            <a:solidFill>
              <a:srgbClr val="D9DDD1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777240" y="389534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85B4A"/>
          </a:solidFill>
          <a:ln w="12700">
            <a:solidFill>
              <a:srgbClr val="C85B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89888" y="39136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6282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风险与失败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127248" y="39136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278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砖红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04688" y="391363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6282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失败、缺失、需处理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389888" y="4398264"/>
            <a:ext cx="8412480" cy="0"/>
          </a:xfrm>
          <a:prstGeom prst="line">
            <a:avLst/>
          </a:prstGeom>
          <a:noFill/>
          <a:ln w="8890">
            <a:solidFill>
              <a:srgbClr val="D9DDD1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777240" y="4773168"/>
            <a:ext cx="4754880" cy="731520"/>
          </a:xfrm>
          <a:prstGeom prst="roundRect">
            <a:avLst>
              <a:gd name="adj" fmla="val 10000"/>
            </a:avLst>
          </a:prstGeom>
          <a:solidFill>
            <a:srgbClr val="E6EEE8"/>
          </a:solidFill>
          <a:ln w="10160">
            <a:solidFill>
              <a:srgbClr val="D9DDD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24128" y="491947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6282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标题  26–32 pt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127248" y="491947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278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正文  11–14 pt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806440" y="4773168"/>
            <a:ext cx="55321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9DDD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53328" y="4919472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6282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中文优先，英文仅保留 API、基因名和标准方法名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2786E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975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  布局系统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6282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三栏工作台：导航、推理、检查器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1316736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7278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布局随屏幕变化，信息优先级不变。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77240" y="1901952"/>
            <a:ext cx="594360" cy="3291840"/>
          </a:xfrm>
          <a:prstGeom prst="roundRect">
            <a:avLst>
              <a:gd name="adj" fmla="val 12308"/>
            </a:avLst>
          </a:prstGeom>
          <a:solidFill>
            <a:srgbClr val="56635A"/>
          </a:solidFill>
          <a:ln w="10160">
            <a:solidFill>
              <a:srgbClr val="5663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7552" y="2267712"/>
            <a:ext cx="146304" cy="146304"/>
          </a:xfrm>
          <a:prstGeom prst="ellipse">
            <a:avLst/>
          </a:prstGeom>
          <a:solidFill>
            <a:srgbClr val="A7B3A8"/>
          </a:solidFill>
          <a:ln w="12700">
            <a:solidFill>
              <a:srgbClr val="A7B3A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87552" y="2770632"/>
            <a:ext cx="146304" cy="146304"/>
          </a:xfrm>
          <a:prstGeom prst="ellipse">
            <a:avLst/>
          </a:prstGeom>
          <a:solidFill>
            <a:srgbClr val="C6D63D"/>
          </a:solidFill>
          <a:ln w="12700">
            <a:solidFill>
              <a:srgbClr val="C6D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7552" y="3273552"/>
            <a:ext cx="146304" cy="146304"/>
          </a:xfrm>
          <a:prstGeom prst="ellipse">
            <a:avLst/>
          </a:prstGeom>
          <a:solidFill>
            <a:srgbClr val="A7B3A8"/>
          </a:solidFill>
          <a:ln w="12700">
            <a:solidFill>
              <a:srgbClr val="A7B3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87552" y="3776472"/>
            <a:ext cx="146304" cy="146304"/>
          </a:xfrm>
          <a:prstGeom prst="ellipse">
            <a:avLst/>
          </a:prstGeom>
          <a:solidFill>
            <a:srgbClr val="A7B3A8"/>
          </a:solidFill>
          <a:ln w="12700">
            <a:solidFill>
              <a:srgbClr val="A7B3A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87552" y="4279392"/>
            <a:ext cx="146304" cy="146304"/>
          </a:xfrm>
          <a:prstGeom prst="ellipse">
            <a:avLst/>
          </a:prstGeom>
          <a:solidFill>
            <a:srgbClr val="A7B3A8"/>
          </a:solidFill>
          <a:ln w="12700">
            <a:solidFill>
              <a:srgbClr val="A7B3A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81328" y="1901952"/>
            <a:ext cx="1993392" cy="329184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0160">
            <a:solidFill>
              <a:srgbClr val="D9DDD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37360" y="217627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6282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任务侧栏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737360" y="2724912"/>
            <a:ext cx="73152" cy="73152"/>
          </a:xfrm>
          <a:prstGeom prst="ellipse">
            <a:avLst/>
          </a:prstGeom>
          <a:solidFill>
            <a:srgbClr val="69751A"/>
          </a:solidFill>
          <a:ln w="12700">
            <a:solidFill>
              <a:srgbClr val="6975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01952" y="2615184"/>
            <a:ext cx="1252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278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项目与任务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737360" y="3163824"/>
            <a:ext cx="73152" cy="73152"/>
          </a:xfrm>
          <a:prstGeom prst="ellipse">
            <a:avLst/>
          </a:prstGeom>
          <a:solidFill>
            <a:srgbClr val="69751A"/>
          </a:solidFill>
          <a:ln w="12700">
            <a:solidFill>
              <a:srgbClr val="6975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01952" y="3054096"/>
            <a:ext cx="1252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278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数据集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737360" y="3602736"/>
            <a:ext cx="73152" cy="73152"/>
          </a:xfrm>
          <a:prstGeom prst="ellipse">
            <a:avLst/>
          </a:prstGeom>
          <a:solidFill>
            <a:srgbClr val="69751A"/>
          </a:solidFill>
          <a:ln w="12700">
            <a:solidFill>
              <a:srgbClr val="6975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01952" y="3493008"/>
            <a:ext cx="1252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278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文件上传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737360" y="4041648"/>
            <a:ext cx="73152" cy="73152"/>
          </a:xfrm>
          <a:prstGeom prst="ellipse">
            <a:avLst/>
          </a:prstGeom>
          <a:solidFill>
            <a:srgbClr val="69751A"/>
          </a:solidFill>
          <a:ln w="12700">
            <a:solidFill>
              <a:srgbClr val="6975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01952" y="3931920"/>
            <a:ext cx="1252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278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最近运行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39312" y="1901952"/>
            <a:ext cx="5029200" cy="3291840"/>
          </a:xfrm>
          <a:prstGeom prst="roundRect">
            <a:avLst>
              <a:gd name="adj" fmla="val 2222"/>
            </a:avLst>
          </a:prstGeom>
          <a:solidFill>
            <a:srgbClr val="E6EEE8"/>
          </a:solidFill>
          <a:ln w="10160">
            <a:solidFill>
              <a:srgbClr val="D9DDD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13632" y="217627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663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研究目标  /  智能体对话  /  证据流水线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913632" y="2624328"/>
            <a:ext cx="44348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0160">
            <a:solidFill>
              <a:srgbClr val="D9DDD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60520" y="28620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6282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比较处理组与对照组的差异表达基因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913632" y="3822192"/>
            <a:ext cx="443484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D9DDD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60520" y="413308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B8F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意图识别   →   检索   →   重排   →   参数绑定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869680" y="1901952"/>
            <a:ext cx="2395728" cy="3291840"/>
          </a:xfrm>
          <a:prstGeom prst="roundRect">
            <a:avLst>
              <a:gd name="adj" fmla="val 3053"/>
            </a:avLst>
          </a:prstGeom>
          <a:solidFill>
            <a:srgbClr val="FFFFFF"/>
          </a:solidFill>
          <a:ln w="10160">
            <a:solidFill>
              <a:srgbClr val="D9DDD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0" y="217627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6282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检查器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144000" y="2651760"/>
            <a:ext cx="594360" cy="274320"/>
          </a:xfrm>
          <a:prstGeom prst="roundRect">
            <a:avLst>
              <a:gd name="adj" fmla="val 20000"/>
            </a:avLst>
          </a:prstGeom>
          <a:solidFill>
            <a:srgbClr val="C6D63D"/>
          </a:solidFill>
          <a:ln w="12700">
            <a:solidFill>
              <a:srgbClr val="C6D6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0" y="2665476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663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结果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829800" y="2651760"/>
            <a:ext cx="594360" cy="274320"/>
          </a:xfrm>
          <a:prstGeom prst="roundRect">
            <a:avLst>
              <a:gd name="adj" fmla="val 20000"/>
            </a:avLst>
          </a:prstGeom>
          <a:solidFill>
            <a:srgbClr val="E6EEE8"/>
          </a:solidFill>
          <a:ln w="12700">
            <a:solidFill>
              <a:srgbClr val="E6EE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829800" y="2665476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663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代码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0515600" y="2651760"/>
            <a:ext cx="594360" cy="274320"/>
          </a:xfrm>
          <a:prstGeom prst="roundRect">
            <a:avLst>
              <a:gd name="adj" fmla="val 20000"/>
            </a:avLst>
          </a:prstGeom>
          <a:solidFill>
            <a:srgbClr val="E6EEE8"/>
          </a:solidFill>
          <a:ln w="12700">
            <a:solidFill>
              <a:srgbClr val="E6EE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515600" y="2665476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663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日志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144000" y="324612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6282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当前节点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26282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DESeq2 差异分析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639312" y="55321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975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中屏策略：检查器收进抽屉，主工作区保持完整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2786E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975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  多端适配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6282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同一条研究路径，三种屏幕密度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1316736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7278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适配不只是缩小组件，而是重新安排任务优先级。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77240" y="2011680"/>
            <a:ext cx="3090672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0160">
            <a:solidFill>
              <a:srgbClr val="D9DDD1"/>
            </a:solidFill>
            <a:prstDash val="solid"/>
          </a:ln>
          <a:effectLst>
            <a:outerShdw sx="100000" sy="100000" kx="0" ky="0" algn="bl" rotWithShape="0" blurRad="12700" dist="50800" dir="2700000">
              <a:srgbClr val="A8AEA1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51560" y="23317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6282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大屏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441448" y="2331720"/>
            <a:ext cx="1097280" cy="274320"/>
          </a:xfrm>
          <a:prstGeom prst="roundRect">
            <a:avLst>
              <a:gd name="adj" fmla="val 20000"/>
            </a:avLst>
          </a:prstGeom>
          <a:solidFill>
            <a:srgbClr val="E6EEE8"/>
          </a:solidFill>
          <a:ln w="12700">
            <a:solidFill>
              <a:srgbClr val="E6E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41448" y="234543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663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≥ 1280 px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051560" y="2944368"/>
            <a:ext cx="365760" cy="1389888"/>
          </a:xfrm>
          <a:prstGeom prst="roundRect">
            <a:avLst>
              <a:gd name="adj" fmla="val 20000"/>
            </a:avLst>
          </a:prstGeom>
          <a:solidFill>
            <a:srgbClr val="56635A"/>
          </a:solidFill>
          <a:ln w="10160">
            <a:solidFill>
              <a:srgbClr val="5663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27048" y="2944368"/>
            <a:ext cx="1325880" cy="1389888"/>
          </a:xfrm>
          <a:prstGeom prst="roundRect">
            <a:avLst>
              <a:gd name="adj" fmla="val 5517"/>
            </a:avLst>
          </a:prstGeom>
          <a:solidFill>
            <a:srgbClr val="E6EEE8"/>
          </a:solidFill>
          <a:ln w="10160">
            <a:solidFill>
              <a:srgbClr val="D9DDD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71800" y="2944368"/>
            <a:ext cx="621792" cy="13898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0160">
            <a:solidFill>
              <a:srgbClr val="D9DDD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451713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278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三栏并行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462272" y="2011680"/>
            <a:ext cx="3090672" cy="2926080"/>
          </a:xfrm>
          <a:prstGeom prst="roundRect">
            <a:avLst>
              <a:gd name="adj" fmla="val 2500"/>
            </a:avLst>
          </a:prstGeom>
          <a:solidFill>
            <a:srgbClr val="E6EEE8"/>
          </a:solidFill>
          <a:ln w="10160">
            <a:solidFill>
              <a:srgbClr val="D9DDD1"/>
            </a:solidFill>
            <a:prstDash val="solid"/>
          </a:ln>
          <a:effectLst>
            <a:outerShdw sx="100000" sy="100000" kx="0" ky="0" algn="bl" rotWithShape="0" blurRad="12700" dist="50800" dir="2700000">
              <a:srgbClr val="A8AEA1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36592" y="23317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6282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中屏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126480" y="2331720"/>
            <a:ext cx="1097280" cy="274320"/>
          </a:xfrm>
          <a:prstGeom prst="roundRect">
            <a:avLst>
              <a:gd name="adj" fmla="val 20000"/>
            </a:avLst>
          </a:prstGeom>
          <a:solidFill>
            <a:srgbClr val="C6D63D"/>
          </a:solidFill>
          <a:ln w="12700">
            <a:solidFill>
              <a:srgbClr val="C6D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234543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663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768–1279 px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36592" y="2944368"/>
            <a:ext cx="2542032" cy="1389888"/>
          </a:xfrm>
          <a:prstGeom prst="roundRect">
            <a:avLst>
              <a:gd name="adj" fmla="val 5263"/>
            </a:avLst>
          </a:prstGeom>
          <a:solidFill>
            <a:srgbClr val="E6EEE8"/>
          </a:solidFill>
          <a:ln w="10160">
            <a:solidFill>
              <a:srgbClr val="D9DDD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11112" y="3154680"/>
            <a:ext cx="667512" cy="978408"/>
          </a:xfrm>
          <a:prstGeom prst="roundRect">
            <a:avLst>
              <a:gd name="adj" fmla="val 10959"/>
            </a:avLst>
          </a:prstGeom>
          <a:solidFill>
            <a:srgbClr val="FFFFFF"/>
          </a:solidFill>
          <a:ln w="10160">
            <a:solidFill>
              <a:srgbClr val="D9DDD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36592" y="451713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278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检查器抽屉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47304" y="2011680"/>
            <a:ext cx="3090672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0160">
            <a:solidFill>
              <a:srgbClr val="D9DDD1"/>
            </a:solidFill>
            <a:prstDash val="solid"/>
          </a:ln>
          <a:effectLst>
            <a:outerShdw sx="100000" sy="100000" kx="0" ky="0" algn="bl" rotWithShape="0" blurRad="12700" dist="50800" dir="2700000">
              <a:srgbClr val="A8AEA1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421624" y="23317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6282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移动端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811512" y="2331720"/>
            <a:ext cx="1097280" cy="274320"/>
          </a:xfrm>
          <a:prstGeom prst="roundRect">
            <a:avLst>
              <a:gd name="adj" fmla="val 20000"/>
            </a:avLst>
          </a:prstGeom>
          <a:solidFill>
            <a:srgbClr val="E6EEE8"/>
          </a:solidFill>
          <a:ln w="12700">
            <a:solidFill>
              <a:srgbClr val="E6EE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11512" y="234543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663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&lt; 768 px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805672" y="2944368"/>
            <a:ext cx="1755648" cy="1389888"/>
          </a:xfrm>
          <a:prstGeom prst="roundRect">
            <a:avLst>
              <a:gd name="adj" fmla="val 5263"/>
            </a:avLst>
          </a:prstGeom>
          <a:solidFill>
            <a:srgbClr val="E6EEE8"/>
          </a:solidFill>
          <a:ln w="10160">
            <a:solidFill>
              <a:srgbClr val="D9DDD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531352" y="3703320"/>
            <a:ext cx="2286000" cy="0"/>
          </a:xfrm>
          <a:prstGeom prst="line">
            <a:avLst/>
          </a:prstGeom>
          <a:noFill/>
          <a:ln w="13970">
            <a:solidFill>
              <a:srgbClr val="69751A"/>
            </a:solidFill>
            <a:prstDash val="solid"/>
            <a:headEnd type="none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8421624" y="451713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278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纵向任务流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05840" y="5413248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975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触控优先：分隔线、节点拖拽和抽屉均使用 Pointer Events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2786E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975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  交互组件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6282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按钮、弹窗、Toast 都要回答一个问题：操作发生了吗？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1316736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7278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可见反馈、可逆操作和键盘可达性是前端质量的第一印象。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68680" y="2148840"/>
            <a:ext cx="1874520" cy="502920"/>
          </a:xfrm>
          <a:prstGeom prst="roundRect">
            <a:avLst>
              <a:gd name="adj" fmla="val 14545"/>
            </a:avLst>
          </a:prstGeom>
          <a:solidFill>
            <a:srgbClr val="C6D63D"/>
          </a:solidFill>
          <a:ln w="12700">
            <a:solidFill>
              <a:srgbClr val="C6D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276856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282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批准并执行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281635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278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主按钮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36392" y="2148840"/>
            <a:ext cx="18745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5663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36392" y="2276856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663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查看证据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136392" y="281635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278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描边按钮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04104" y="2148840"/>
            <a:ext cx="1874520" cy="502920"/>
          </a:xfrm>
          <a:prstGeom prst="roundRect">
            <a:avLst>
              <a:gd name="adj" fmla="val 14545"/>
            </a:avLst>
          </a:prstGeom>
          <a:solidFill>
            <a:srgbClr val="E5E7DF"/>
          </a:solidFill>
          <a:ln w="12700">
            <a:solidFill>
              <a:srgbClr val="E5E7D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04104" y="2276856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A09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等待澄清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04104" y="281635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278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禁用按钮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68680" y="3383280"/>
            <a:ext cx="466344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0160">
            <a:solidFill>
              <a:srgbClr val="D9DDD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24712" y="36393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975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弹窗行为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24712" y="4078224"/>
            <a:ext cx="73152" cy="73152"/>
          </a:xfrm>
          <a:prstGeom prst="ellipse">
            <a:avLst/>
          </a:prstGeom>
          <a:solidFill>
            <a:srgbClr val="69751A"/>
          </a:solidFill>
          <a:ln w="12700">
            <a:solidFill>
              <a:srgbClr val="6975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89304" y="3968496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278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点击空白关闭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124712" y="4352544"/>
            <a:ext cx="73152" cy="73152"/>
          </a:xfrm>
          <a:prstGeom prst="ellipse">
            <a:avLst/>
          </a:prstGeom>
          <a:solidFill>
            <a:srgbClr val="69751A"/>
          </a:solidFill>
          <a:ln w="12700">
            <a:solidFill>
              <a:srgbClr val="6975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89304" y="4242816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278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Escape 关闭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124712" y="4626864"/>
            <a:ext cx="73152" cy="73152"/>
          </a:xfrm>
          <a:prstGeom prst="ellipse">
            <a:avLst/>
          </a:prstGeom>
          <a:solidFill>
            <a:srgbClr val="69751A"/>
          </a:solidFill>
          <a:ln w="12700">
            <a:solidFill>
              <a:srgbClr val="6975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89304" y="4517136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278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移动端全屏抽屉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852160" y="3383280"/>
            <a:ext cx="4663440" cy="1353312"/>
          </a:xfrm>
          <a:prstGeom prst="roundRect">
            <a:avLst>
              <a:gd name="adj" fmla="val 5405"/>
            </a:avLst>
          </a:prstGeom>
          <a:solidFill>
            <a:srgbClr val="E6EEE8"/>
          </a:solidFill>
          <a:ln w="10160">
            <a:solidFill>
              <a:srgbClr val="D9DDD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08192" y="36393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975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Toast 行为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08192" y="4078224"/>
            <a:ext cx="73152" cy="73152"/>
          </a:xfrm>
          <a:prstGeom prst="ellipse">
            <a:avLst/>
          </a:prstGeom>
          <a:solidFill>
            <a:srgbClr val="69751A"/>
          </a:solidFill>
          <a:ln w="12700">
            <a:solidFill>
              <a:srgbClr val="6975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72784" y="3968496"/>
            <a:ext cx="3447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278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成功：已保存布局版本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08192" y="4352544"/>
            <a:ext cx="73152" cy="73152"/>
          </a:xfrm>
          <a:prstGeom prst="ellipse">
            <a:avLst/>
          </a:prstGeom>
          <a:solidFill>
            <a:srgbClr val="69751A"/>
          </a:solidFill>
          <a:ln w="12700">
            <a:solidFill>
              <a:srgbClr val="6975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72784" y="4242816"/>
            <a:ext cx="3447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278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失败：查看原因并重试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108192" y="4626864"/>
            <a:ext cx="73152" cy="73152"/>
          </a:xfrm>
          <a:prstGeom prst="ellipse">
            <a:avLst/>
          </a:prstGeom>
          <a:solidFill>
            <a:srgbClr val="69751A"/>
          </a:solidFill>
          <a:ln w="12700">
            <a:solidFill>
              <a:srgbClr val="6975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72784" y="4517136"/>
            <a:ext cx="3447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278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等待：显示当前阶段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2786E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975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  RAG 全链路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6282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证据流水线是智能体的可视化骨架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1316736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7278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用户提问后，前端把每个阶段变成可点击的状态节点。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1435608" y="2359152"/>
            <a:ext cx="347472" cy="347472"/>
          </a:xfrm>
          <a:prstGeom prst="ellipse">
            <a:avLst/>
          </a:prstGeom>
          <a:solidFill>
            <a:srgbClr val="5B8FA8"/>
          </a:solidFill>
          <a:ln w="12700">
            <a:solidFill>
              <a:srgbClr val="5B8F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35608" y="2432304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2926080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6282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意图识别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3310128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7278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研究问题 → 分析意图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810512" y="2532888"/>
            <a:ext cx="1143000" cy="0"/>
          </a:xfrm>
          <a:prstGeom prst="line">
            <a:avLst/>
          </a:prstGeom>
          <a:noFill/>
          <a:ln w="15240">
            <a:solidFill>
              <a:srgbClr val="5B8FA8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648456" y="2359152"/>
            <a:ext cx="347472" cy="347472"/>
          </a:xfrm>
          <a:prstGeom prst="ellipse">
            <a:avLst/>
          </a:prstGeom>
          <a:solidFill>
            <a:srgbClr val="5B8FA8"/>
          </a:solidFill>
          <a:ln w="12700">
            <a:solidFill>
              <a:srgbClr val="5B8F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48456" y="2432304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990088" y="2926080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6282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知识检索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990088" y="3310128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7278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技能包 / 文献 / 项目文件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023360" y="2532888"/>
            <a:ext cx="1143000" cy="0"/>
          </a:xfrm>
          <a:prstGeom prst="line">
            <a:avLst/>
          </a:prstGeom>
          <a:noFill/>
          <a:ln w="15240">
            <a:solidFill>
              <a:srgbClr val="5B8FA8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861304" y="2359152"/>
            <a:ext cx="347472" cy="347472"/>
          </a:xfrm>
          <a:prstGeom prst="ellipse">
            <a:avLst/>
          </a:prstGeom>
          <a:solidFill>
            <a:srgbClr val="69751A"/>
          </a:solidFill>
          <a:ln w="12700">
            <a:solidFill>
              <a:srgbClr val="6975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61304" y="2432304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202936" y="2926080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6282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重排与过滤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202936" y="3310128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7278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相关性、时效性、可信度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36208" y="2532888"/>
            <a:ext cx="1143000" cy="0"/>
          </a:xfrm>
          <a:prstGeom prst="line">
            <a:avLst/>
          </a:prstGeom>
          <a:noFill/>
          <a:ln w="15240">
            <a:solidFill>
              <a:srgbClr val="5B8FA8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074152" y="2359152"/>
            <a:ext cx="347472" cy="347472"/>
          </a:xfrm>
          <a:prstGeom prst="ellipse">
            <a:avLst/>
          </a:prstGeom>
          <a:solidFill>
            <a:srgbClr val="5B8FA8"/>
          </a:solidFill>
          <a:ln w="12700">
            <a:solidFill>
              <a:srgbClr val="5B8F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74152" y="2432304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15784" y="2926080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6282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参数绑定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415784" y="3310128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7278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比较组、物种、阈值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449056" y="2532888"/>
            <a:ext cx="1143000" cy="0"/>
          </a:xfrm>
          <a:prstGeom prst="line">
            <a:avLst/>
          </a:prstGeom>
          <a:noFill/>
          <a:ln w="15240">
            <a:solidFill>
              <a:srgbClr val="5B8FA8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0287000" y="2359152"/>
            <a:ext cx="347472" cy="347472"/>
          </a:xfrm>
          <a:prstGeom prst="ellipse">
            <a:avLst/>
          </a:prstGeom>
          <a:solidFill>
            <a:srgbClr val="5B8FA8"/>
          </a:solidFill>
          <a:ln w="12700">
            <a:solidFill>
              <a:srgbClr val="5B8F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287000" y="2432304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628632" y="2926080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6282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计划生成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628632" y="3310128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7278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步骤、工具、交付物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005840" y="4315968"/>
            <a:ext cx="9692640" cy="841248"/>
          </a:xfrm>
          <a:prstGeom prst="roundRect">
            <a:avLst>
              <a:gd name="adj" fmla="val 8696"/>
            </a:avLst>
          </a:prstGeom>
          <a:solidFill>
            <a:srgbClr val="E6EEE8"/>
          </a:solidFill>
          <a:ln w="10160">
            <a:solidFill>
              <a:srgbClr val="D9DDD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80160" y="459943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975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交互亮点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487168" y="4544568"/>
            <a:ext cx="7818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6282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点击任一步，检查器展示来源、命中片段、重排分数与最终绑定参数。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2786E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975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  工作流与交付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6282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画布让智能体的计划变成可配置资产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1316736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7278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节点负责动作，边负责依赖，版本负责复盘。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1005840" y="2834640"/>
            <a:ext cx="1572768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0160">
            <a:solidFill>
              <a:srgbClr val="5663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3856" y="294436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63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输入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33856" y="3218688"/>
            <a:ext cx="1325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7278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counts.csv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578608" y="2606040"/>
            <a:ext cx="621792" cy="594360"/>
          </a:xfrm>
          <a:prstGeom prst="line">
            <a:avLst/>
          </a:prstGeom>
          <a:noFill/>
          <a:ln w="17780">
            <a:solidFill>
              <a:srgbClr val="56635A"/>
            </a:solidFill>
            <a:prstDash val="solid"/>
            <a:headEnd type="triangl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3200400" y="2240280"/>
            <a:ext cx="1572768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0160">
            <a:solidFill>
              <a:srgbClr val="5B8F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28416" y="235000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8F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设计矩阵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28416" y="2624328"/>
            <a:ext cx="1325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7278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condition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73168" y="2606040"/>
            <a:ext cx="621792" cy="594360"/>
          </a:xfrm>
          <a:prstGeom prst="line">
            <a:avLst/>
          </a:prstGeom>
          <a:noFill/>
          <a:ln w="17780">
            <a:solidFill>
              <a:srgbClr val="56635A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394960" y="2834640"/>
            <a:ext cx="1572768" cy="713232"/>
          </a:xfrm>
          <a:prstGeom prst="roundRect">
            <a:avLst>
              <a:gd name="adj" fmla="val 10256"/>
            </a:avLst>
          </a:prstGeom>
          <a:solidFill>
            <a:srgbClr val="C6D63D"/>
          </a:solidFill>
          <a:ln w="10160">
            <a:solidFill>
              <a:srgbClr val="6975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22976" y="294436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975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差异分析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522976" y="3218688"/>
            <a:ext cx="1325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7278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DESeq2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967728" y="2606040"/>
            <a:ext cx="621792" cy="594360"/>
          </a:xfrm>
          <a:prstGeom prst="line">
            <a:avLst/>
          </a:prstGeom>
          <a:noFill/>
          <a:ln w="17780">
            <a:solidFill>
              <a:srgbClr val="56635A"/>
            </a:solidFill>
            <a:prstDash val="solid"/>
            <a:headEnd type="triangl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7589520" y="2240280"/>
            <a:ext cx="1572768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0160">
            <a:solidFill>
              <a:srgbClr val="5663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17536" y="235000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63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交付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17536" y="2624328"/>
            <a:ext cx="1325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7278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火山图 + 报告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005840" y="4251960"/>
            <a:ext cx="1115568" cy="274320"/>
          </a:xfrm>
          <a:prstGeom prst="roundRect">
            <a:avLst>
              <a:gd name="adj" fmla="val 20000"/>
            </a:avLst>
          </a:prstGeom>
          <a:solidFill>
            <a:srgbClr val="E6EEE8"/>
          </a:solidFill>
          <a:ln w="12700">
            <a:solidFill>
              <a:srgbClr val="E6EE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4265676"/>
            <a:ext cx="1115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663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拖拽节点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286000" y="4251960"/>
            <a:ext cx="1234440" cy="274320"/>
          </a:xfrm>
          <a:prstGeom prst="roundRect">
            <a:avLst>
              <a:gd name="adj" fmla="val 20000"/>
            </a:avLst>
          </a:prstGeom>
          <a:solidFill>
            <a:srgbClr val="E6EEE8"/>
          </a:solidFill>
          <a:ln w="12700">
            <a:solidFill>
              <a:srgbClr val="E6EE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0" y="4265676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663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缩放 / 平移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75888" y="4251960"/>
            <a:ext cx="1115568" cy="274320"/>
          </a:xfrm>
          <a:prstGeom prst="roundRect">
            <a:avLst>
              <a:gd name="adj" fmla="val 20000"/>
            </a:avLst>
          </a:prstGeom>
          <a:solidFill>
            <a:srgbClr val="C6D63D"/>
          </a:solidFill>
          <a:ln w="12700">
            <a:solidFill>
              <a:srgbClr val="C6D6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75888" y="4265676"/>
            <a:ext cx="1115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663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保存版本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956048" y="4251960"/>
            <a:ext cx="1188720" cy="274320"/>
          </a:xfrm>
          <a:prstGeom prst="roundRect">
            <a:avLst>
              <a:gd name="adj" fmla="val 20000"/>
            </a:avLst>
          </a:prstGeom>
          <a:solidFill>
            <a:srgbClr val="FBEFEB"/>
          </a:solidFill>
          <a:ln w="12700">
            <a:solidFill>
              <a:srgbClr val="FBEF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56048" y="426567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5B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失败可重试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543800" y="4279392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975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3D 结构预览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778240" y="4572000"/>
            <a:ext cx="201168" cy="201168"/>
          </a:xfrm>
          <a:prstGeom prst="ellipse">
            <a:avLst/>
          </a:prstGeom>
          <a:solidFill>
            <a:srgbClr val="69751A"/>
          </a:solidFill>
          <a:ln w="12700">
            <a:solidFill>
              <a:srgbClr val="69751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906256" y="4480560"/>
            <a:ext cx="320040" cy="182880"/>
          </a:xfrm>
          <a:prstGeom prst="line">
            <a:avLst/>
          </a:prstGeom>
          <a:noFill/>
          <a:ln w="12700">
            <a:solidFill>
              <a:srgbClr val="56635A"/>
            </a:solidFill>
            <a:prstDash val="solid"/>
            <a:headEnd type="none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9235440" y="4370832"/>
            <a:ext cx="201168" cy="201168"/>
          </a:xfrm>
          <a:prstGeom prst="ellipse">
            <a:avLst/>
          </a:prstGeom>
          <a:solidFill>
            <a:srgbClr val="5B8FA8"/>
          </a:solidFill>
          <a:ln w="12700">
            <a:solidFill>
              <a:srgbClr val="5B8FA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363456" y="4462272"/>
            <a:ext cx="320040" cy="182880"/>
          </a:xfrm>
          <a:prstGeom prst="line">
            <a:avLst/>
          </a:prstGeom>
          <a:noFill/>
          <a:ln w="12700">
            <a:solidFill>
              <a:srgbClr val="56635A"/>
            </a:solidFill>
            <a:prstDash val="solid"/>
            <a:headEnd type="none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9674352" y="4681728"/>
            <a:ext cx="201168" cy="201168"/>
          </a:xfrm>
          <a:prstGeom prst="ellipse">
            <a:avLst/>
          </a:prstGeom>
          <a:solidFill>
            <a:srgbClr val="69751A"/>
          </a:solidFill>
          <a:ln w="12700">
            <a:solidFill>
              <a:srgbClr val="69751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802368" y="4590288"/>
            <a:ext cx="320040" cy="182880"/>
          </a:xfrm>
          <a:prstGeom prst="line">
            <a:avLst/>
          </a:prstGeom>
          <a:noFill/>
          <a:ln w="12700">
            <a:solidFill>
              <a:srgbClr val="56635A"/>
            </a:solidFill>
            <a:prstDash val="solid"/>
            <a:headEnd type="none"/>
            <a:tailEnd type="none"/>
          </a:ln>
        </p:spPr>
      </p:sp>
      <p:sp>
        <p:nvSpPr>
          <p:cNvPr id="35" name="Shape 33"/>
          <p:cNvSpPr/>
          <p:nvPr/>
        </p:nvSpPr>
        <p:spPr>
          <a:xfrm>
            <a:off x="10149840" y="4425696"/>
            <a:ext cx="201168" cy="201168"/>
          </a:xfrm>
          <a:prstGeom prst="ellipse">
            <a:avLst/>
          </a:prstGeom>
          <a:solidFill>
            <a:srgbClr val="5B8FA8"/>
          </a:solidFill>
          <a:ln w="12700">
            <a:solidFill>
              <a:srgbClr val="5B8FA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277856" y="4517136"/>
            <a:ext cx="320040" cy="182880"/>
          </a:xfrm>
          <a:prstGeom prst="line">
            <a:avLst/>
          </a:prstGeom>
          <a:noFill/>
          <a:ln w="12700">
            <a:solidFill>
              <a:srgbClr val="56635A"/>
            </a:solidFill>
            <a:prstDash val="solid"/>
            <a:headEnd type="none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10469880" y="4754880"/>
            <a:ext cx="201168" cy="201168"/>
          </a:xfrm>
          <a:prstGeom prst="ellipse">
            <a:avLst/>
          </a:prstGeom>
          <a:solidFill>
            <a:srgbClr val="69751A"/>
          </a:solidFill>
          <a:ln w="12700">
            <a:solidFill>
              <a:srgbClr val="69751A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2786E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975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  运行反馈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6282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粒子 Loading 与流式代码，让等待变成过程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1316736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7278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运行中的用户需要知道系统在做什么，以及下一步什么时候到来。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3749040" cy="2834640"/>
          </a:xfrm>
          <a:prstGeom prst="roundRect">
            <a:avLst>
              <a:gd name="adj" fmla="val 2581"/>
            </a:avLst>
          </a:prstGeom>
          <a:solidFill>
            <a:srgbClr val="262823"/>
          </a:solidFill>
          <a:ln w="10160">
            <a:solidFill>
              <a:srgbClr val="2628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3317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正在构建设计矩阵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508760" y="3246120"/>
            <a:ext cx="91440" cy="91440"/>
          </a:xfrm>
          <a:prstGeom prst="ellipse">
            <a:avLst/>
          </a:prstGeom>
          <a:solidFill>
            <a:srgbClr val="E6EEE8"/>
          </a:solidFill>
          <a:ln w="12700">
            <a:solidFill>
              <a:srgbClr val="E6EE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0" y="2944368"/>
            <a:ext cx="91440" cy="91440"/>
          </a:xfrm>
          <a:prstGeom prst="ellipse">
            <a:avLst/>
          </a:prstGeom>
          <a:solidFill>
            <a:srgbClr val="E6EEE8"/>
          </a:solidFill>
          <a:ln w="12700">
            <a:solidFill>
              <a:srgbClr val="E6EE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0" y="3401568"/>
            <a:ext cx="164592" cy="164592"/>
          </a:xfrm>
          <a:prstGeom prst="ellipse">
            <a:avLst/>
          </a:prstGeom>
          <a:solidFill>
            <a:srgbClr val="C6D63D"/>
          </a:solidFill>
          <a:ln w="12700">
            <a:solidFill>
              <a:srgbClr val="C6D6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08960" y="2999232"/>
            <a:ext cx="91440" cy="91440"/>
          </a:xfrm>
          <a:prstGeom prst="ellipse">
            <a:avLst/>
          </a:prstGeom>
          <a:solidFill>
            <a:srgbClr val="E6EEE8"/>
          </a:solidFill>
          <a:ln w="12700">
            <a:solidFill>
              <a:srgbClr val="E6EE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84448" y="3328416"/>
            <a:ext cx="91440" cy="91440"/>
          </a:xfrm>
          <a:prstGeom prst="ellipse">
            <a:avLst/>
          </a:prstGeom>
          <a:solidFill>
            <a:srgbClr val="E6EEE8"/>
          </a:solidFill>
          <a:ln w="12700">
            <a:solidFill>
              <a:srgbClr val="E6EE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23160" y="3886200"/>
            <a:ext cx="91440" cy="91440"/>
          </a:xfrm>
          <a:prstGeom prst="ellipse">
            <a:avLst/>
          </a:prstGeom>
          <a:solidFill>
            <a:srgbClr val="E6EEE8"/>
          </a:solidFill>
          <a:ln w="12700">
            <a:solidFill>
              <a:srgbClr val="E6EE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81912" y="2999232"/>
            <a:ext cx="411480" cy="301752"/>
          </a:xfrm>
          <a:prstGeom prst="line">
            <a:avLst/>
          </a:prstGeom>
          <a:noFill/>
          <a:ln w="10160">
            <a:solidFill>
              <a:srgbClr val="56635A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2084832" y="2999232"/>
            <a:ext cx="457200" cy="457200"/>
          </a:xfrm>
          <a:prstGeom prst="line">
            <a:avLst/>
          </a:prstGeom>
          <a:noFill/>
          <a:ln w="10160">
            <a:solidFill>
              <a:srgbClr val="56635A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2633472" y="3054096"/>
            <a:ext cx="457200" cy="402336"/>
          </a:xfrm>
          <a:prstGeom prst="line">
            <a:avLst/>
          </a:prstGeom>
          <a:noFill/>
          <a:ln w="10160">
            <a:solidFill>
              <a:srgbClr val="56635A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3182112" y="3054096"/>
            <a:ext cx="384048" cy="329184"/>
          </a:xfrm>
          <a:prstGeom prst="line">
            <a:avLst/>
          </a:prstGeom>
          <a:noFill/>
          <a:ln w="10160">
            <a:solidFill>
              <a:srgbClr val="56635A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2404872" y="3383280"/>
            <a:ext cx="1252728" cy="557784"/>
          </a:xfrm>
          <a:prstGeom prst="line">
            <a:avLst/>
          </a:prstGeom>
          <a:noFill/>
          <a:ln w="10160">
            <a:solidFill>
              <a:srgbClr val="56635A"/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/>
          <p:nvPr/>
        </p:nvSpPr>
        <p:spPr>
          <a:xfrm>
            <a:off x="1097280" y="4187952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C9D5C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检索 → 解析 → 绑定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983480" y="1920240"/>
            <a:ext cx="626364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0160">
            <a:solidFill>
              <a:srgbClr val="D9DDD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21808" y="226771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6282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代码流式输出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58384" y="27706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663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  import pandas as pd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358384" y="316382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663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  design = build_design(metadata)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358384" y="355701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663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   dds = run_deseq2(counts, design)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358384" y="395020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975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   plot = volcano(dds, padj &lt; 0.05)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358384" y="4343400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7278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每段代码绑定到节点、参数和证据，用户可以复制、下载或回到来源。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2786E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975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  可访问性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6282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研究工具也要让每个人都能稳稳用起来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1316736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7278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可访问性不是额外功能，而是复杂工作流的容错层。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96112" y="2011680"/>
            <a:ext cx="201168" cy="201168"/>
          </a:xfrm>
          <a:prstGeom prst="ellipse">
            <a:avLst/>
          </a:prstGeom>
          <a:solidFill>
            <a:srgbClr val="56635A"/>
          </a:solidFill>
          <a:ln w="12700">
            <a:solidFill>
              <a:srgbClr val="5663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92024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6282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键盘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514600" y="192024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278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Tab 顺序覆盖导航、对话、画布和检查器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321040" y="1911096"/>
            <a:ext cx="2057400" cy="274320"/>
          </a:xfrm>
          <a:prstGeom prst="roundRect">
            <a:avLst>
              <a:gd name="adj" fmla="val 20000"/>
            </a:avLst>
          </a:prstGeom>
          <a:solidFill>
            <a:srgbClr val="E6EEE8"/>
          </a:solidFill>
          <a:ln w="12700">
            <a:solidFill>
              <a:srgbClr val="E6E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21040" y="192481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663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焦点环 + Escape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96112" y="2724912"/>
            <a:ext cx="201168" cy="201168"/>
          </a:xfrm>
          <a:prstGeom prst="ellipse">
            <a:avLst/>
          </a:prstGeom>
          <a:solidFill>
            <a:srgbClr val="56635A"/>
          </a:solidFill>
          <a:ln w="12700">
            <a:solidFill>
              <a:srgbClr val="5663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80160" y="263347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6282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触控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514600" y="2633472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278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拖拽边界、节点和画布使用 Pointer Events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321040" y="2624328"/>
            <a:ext cx="2057400" cy="274320"/>
          </a:xfrm>
          <a:prstGeom prst="roundRect">
            <a:avLst>
              <a:gd name="adj" fmla="val 20000"/>
            </a:avLst>
          </a:prstGeom>
          <a:solidFill>
            <a:srgbClr val="E6EEE8"/>
          </a:solidFill>
          <a:ln w="12700">
            <a:solidFill>
              <a:srgbClr val="E6E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2638044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663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44 px 触控目标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" y="3438144"/>
            <a:ext cx="201168" cy="201168"/>
          </a:xfrm>
          <a:prstGeom prst="ellipse">
            <a:avLst/>
          </a:prstGeom>
          <a:solidFill>
            <a:srgbClr val="69751A"/>
          </a:solidFill>
          <a:ln w="12700">
            <a:solidFill>
              <a:srgbClr val="6975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80160" y="3346704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6282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状态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514600" y="3346704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278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颜色之外同时提供文字、图标和进度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321040" y="3337560"/>
            <a:ext cx="2057400" cy="274320"/>
          </a:xfrm>
          <a:prstGeom prst="roundRect">
            <a:avLst>
              <a:gd name="adj" fmla="val 20000"/>
            </a:avLst>
          </a:prstGeom>
          <a:solidFill>
            <a:srgbClr val="C6D63D"/>
          </a:solidFill>
          <a:ln w="12700">
            <a:solidFill>
              <a:srgbClr val="C6D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21040" y="3351276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663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成功 / 失败可辨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96112" y="4151376"/>
            <a:ext cx="201168" cy="201168"/>
          </a:xfrm>
          <a:prstGeom prst="ellipse">
            <a:avLst/>
          </a:prstGeom>
          <a:solidFill>
            <a:srgbClr val="56635A"/>
          </a:solidFill>
          <a:ln w="12700">
            <a:solidFill>
              <a:srgbClr val="5663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80160" y="4059936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6282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语言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514600" y="4059936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278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中文解释优先，保留标准方法名和基因符号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321040" y="4050792"/>
            <a:ext cx="2057400" cy="274320"/>
          </a:xfrm>
          <a:prstGeom prst="roundRect">
            <a:avLst>
              <a:gd name="adj" fmla="val 20000"/>
            </a:avLst>
          </a:prstGeom>
          <a:solidFill>
            <a:srgbClr val="E6EEE8"/>
          </a:solidFill>
          <a:ln w="12700">
            <a:solidFill>
              <a:srgbClr val="E6EE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21040" y="406450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663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术语一致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68680" y="4983480"/>
            <a:ext cx="10332720" cy="585216"/>
          </a:xfrm>
          <a:prstGeom prst="roundRect">
            <a:avLst>
              <a:gd name="adj" fmla="val 12500"/>
            </a:avLst>
          </a:prstGeom>
          <a:solidFill>
            <a:srgbClr val="E6EEE8"/>
          </a:solidFill>
          <a:ln w="10160">
            <a:solidFill>
              <a:srgbClr val="D9DDD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43000" y="5166360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282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验收标准：任何关键动作都能通过鼠标、键盘或触控完成，并在 200 ms 内给出反馈。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2786E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975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11  规范落地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6282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Do / Don’t：让每次迭代都保持同一套产品判断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1316736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7278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最后一页是给设计、前端和面试演示共同使用的检查表。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77240" y="1901952"/>
            <a:ext cx="4983480" cy="3337560"/>
          </a:xfrm>
          <a:prstGeom prst="roundRect">
            <a:avLst>
              <a:gd name="adj" fmla="val 2192"/>
            </a:avLst>
          </a:prstGeom>
          <a:solidFill>
            <a:srgbClr val="E6EEE8"/>
          </a:solidFill>
          <a:ln w="10160">
            <a:solidFill>
              <a:srgbClr val="D9DDD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2402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975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DO  建议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097280" y="2871216"/>
            <a:ext cx="73152" cy="73152"/>
          </a:xfrm>
          <a:prstGeom prst="ellipse">
            <a:avLst/>
          </a:prstGeom>
          <a:solidFill>
            <a:srgbClr val="69751A"/>
          </a:solidFill>
          <a:ln w="12700">
            <a:solidFill>
              <a:srgbClr val="6975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61872" y="2761488"/>
            <a:ext cx="3813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6282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把证据和参数放在同一条可追踪路径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97280" y="3346704"/>
            <a:ext cx="73152" cy="73152"/>
          </a:xfrm>
          <a:prstGeom prst="ellipse">
            <a:avLst/>
          </a:prstGeom>
          <a:solidFill>
            <a:srgbClr val="69751A"/>
          </a:solidFill>
          <a:ln w="12700">
            <a:solidFill>
              <a:srgbClr val="6975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61872" y="3236976"/>
            <a:ext cx="3813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6282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用状态、进度和可逆操作降低等待焦虑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97280" y="3822192"/>
            <a:ext cx="73152" cy="73152"/>
          </a:xfrm>
          <a:prstGeom prst="ellipse">
            <a:avLst/>
          </a:prstGeom>
          <a:solidFill>
            <a:srgbClr val="69751A"/>
          </a:solidFill>
          <a:ln w="12700">
            <a:solidFill>
              <a:srgbClr val="6975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61872" y="3712464"/>
            <a:ext cx="3813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6282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组件拆分成可复用的业务积木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97280" y="4297680"/>
            <a:ext cx="73152" cy="73152"/>
          </a:xfrm>
          <a:prstGeom prst="ellipse">
            <a:avLst/>
          </a:prstGeom>
          <a:solidFill>
            <a:srgbClr val="69751A"/>
          </a:solidFill>
          <a:ln w="12700">
            <a:solidFill>
              <a:srgbClr val="6975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61872" y="4187952"/>
            <a:ext cx="3813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6282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用真实研究任务验证交互闭环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35040" y="1901952"/>
            <a:ext cx="4983480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0160">
            <a:solidFill>
              <a:srgbClr val="D9DDD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224028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85B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DON’T  避免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355080" y="2871216"/>
            <a:ext cx="73152" cy="73152"/>
          </a:xfrm>
          <a:prstGeom prst="ellipse">
            <a:avLst/>
          </a:prstGeom>
          <a:solidFill>
            <a:srgbClr val="69751A"/>
          </a:solidFill>
          <a:ln w="12700">
            <a:solidFill>
              <a:srgbClr val="6975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19672" y="2761488"/>
            <a:ext cx="3767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6282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只展示最终图表，不解释如何得到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55080" y="3346704"/>
            <a:ext cx="73152" cy="73152"/>
          </a:xfrm>
          <a:prstGeom prst="ellipse">
            <a:avLst/>
          </a:prstGeom>
          <a:solidFill>
            <a:srgbClr val="69751A"/>
          </a:solidFill>
          <a:ln w="12700">
            <a:solidFill>
              <a:srgbClr val="6975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19672" y="3236976"/>
            <a:ext cx="3767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6282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用静态文案模拟运行状态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55080" y="3822192"/>
            <a:ext cx="73152" cy="73152"/>
          </a:xfrm>
          <a:prstGeom prst="ellipse">
            <a:avLst/>
          </a:prstGeom>
          <a:solidFill>
            <a:srgbClr val="69751A"/>
          </a:solidFill>
          <a:ln w="12700">
            <a:solidFill>
              <a:srgbClr val="6975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19672" y="3712464"/>
            <a:ext cx="3767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6282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把所有业务逻辑堆在一个页面文件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355080" y="4297680"/>
            <a:ext cx="73152" cy="73152"/>
          </a:xfrm>
          <a:prstGeom prst="ellipse">
            <a:avLst/>
          </a:prstGeom>
          <a:solidFill>
            <a:srgbClr val="69751A"/>
          </a:solidFill>
          <a:ln w="12700">
            <a:solidFill>
              <a:srgbClr val="6975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19672" y="4187952"/>
            <a:ext cx="3767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6282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中英文混排，导致术语和层级失控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14400" y="566928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975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BioFlow Studio  ·  让生命科学分析从问题到交付保持可见、可配、可复现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0138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2786E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BioFlow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BioFlow Studio 视觉与交互规范</dc:title>
  <dc:subject>生命科学智能体工作台视觉与交互规范</dc:subject>
  <dc:creator>BioFlow Studio</dc:creator>
  <cp:lastModifiedBy>BioFlow Studio</cp:lastModifiedBy>
  <cp:revision>1</cp:revision>
  <dcterms:created xsi:type="dcterms:W3CDTF">2026-09-06T18:59:36Z</dcterms:created>
  <dcterms:modified xsi:type="dcterms:W3CDTF">2026-09-06T18:59:36Z</dcterms:modified>
</cp:coreProperties>
</file>