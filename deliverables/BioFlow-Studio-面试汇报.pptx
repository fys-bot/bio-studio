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a993ef8f54fff" /><Relationship Type="http://schemas.openxmlformats.org/officeDocument/2006/relationships/extended-properties" Target="/docProps/app.xml" Id="Rcd20ada8cf5e42ae" /><Relationship Type="http://schemas.openxmlformats.org/officeDocument/2006/relationships/officeDocument" Target="/ppt/presentation.xml" Id="R59753fef97e1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559d2cd1594bad"/>
  </p:sldMasterIdLst>
  <p:notesMasterIdLst>
    <p:notesMasterId xmlns:r="http://schemas.openxmlformats.org/officeDocument/2006/relationships" r:id="R4717e28349f2447b"/>
  </p:notesMasterIdLst>
  <p:sldIdLst>
    <p:sldId xmlns:r="http://schemas.openxmlformats.org/officeDocument/2006/relationships" id="256" r:id="R1a92a802debe4f40"/>
    <p:sldId xmlns:r="http://schemas.openxmlformats.org/officeDocument/2006/relationships" id="257" r:id="R65501f08033d475f"/>
    <p:sldId xmlns:r="http://schemas.openxmlformats.org/officeDocument/2006/relationships" id="258" r:id="Rd1486173d3dd4fb1"/>
    <p:sldId xmlns:r="http://schemas.openxmlformats.org/officeDocument/2006/relationships" id="259" r:id="R4a3230757e954076"/>
    <p:sldId xmlns:r="http://schemas.openxmlformats.org/officeDocument/2006/relationships" id="260" r:id="Re78c7b8fcc7844d0"/>
    <p:sldId xmlns:r="http://schemas.openxmlformats.org/officeDocument/2006/relationships" id="261" r:id="Rcf63145982024495"/>
    <p:sldId xmlns:r="http://schemas.openxmlformats.org/officeDocument/2006/relationships" id="262" r:id="R6b6fb177abd44933"/>
    <p:sldId xmlns:r="http://schemas.openxmlformats.org/officeDocument/2006/relationships" id="263" r:id="R236075677b42431b"/>
    <p:sldId xmlns:r="http://schemas.openxmlformats.org/officeDocument/2006/relationships" id="264" r:id="R883c0798b2af450a"/>
    <p:sldId xmlns:r="http://schemas.openxmlformats.org/officeDocument/2006/relationships" id="265" r:id="Rdddbfd4252a3483b"/>
    <p:sldId xmlns:r="http://schemas.openxmlformats.org/officeDocument/2006/relationships" id="266" r:id="R6011ca5315e94cfc"/>
    <p:sldId xmlns:r="http://schemas.openxmlformats.org/officeDocument/2006/relationships" id="267" r:id="R8d97d7f8513044aa"/>
    <p:sldId xmlns:r="http://schemas.openxmlformats.org/officeDocument/2006/relationships" id="268" r:id="R3eaca42d01c04900"/>
    <p:sldId xmlns:r="http://schemas.openxmlformats.org/officeDocument/2006/relationships" id="269" r:id="Rc5efd2164f5c4691"/>
    <p:sldId xmlns:r="http://schemas.openxmlformats.org/officeDocument/2006/relationships" id="270" r:id="Re0b017d457304ae4"/>
    <p:sldId xmlns:r="http://schemas.openxmlformats.org/officeDocument/2006/relationships" id="271" r:id="R7be8ac1f6b614746"/>
    <p:sldId xmlns:r="http://schemas.openxmlformats.org/officeDocument/2006/relationships" id="272" r:id="R450c005c11be4390"/>
    <p:sldId xmlns:r="http://schemas.openxmlformats.org/officeDocument/2006/relationships" id="273" r:id="R99b85485c324427e"/>
    <p:sldId xmlns:r="http://schemas.openxmlformats.org/officeDocument/2006/relationships" id="274" r:id="R94c5a1b49e024023"/>
    <p:sldId xmlns:r="http://schemas.openxmlformats.org/officeDocument/2006/relationships" id="275" r:id="R530d5666efff4198"/>
    <p:sldId xmlns:r="http://schemas.openxmlformats.org/officeDocument/2006/relationships" id="276" r:id="R9221fab2519349f4"/>
    <p:sldId xmlns:r="http://schemas.openxmlformats.org/officeDocument/2006/relationships" id="277" r:id="R29ae89fb4b85479d"/>
    <p:sldId xmlns:r="http://schemas.openxmlformats.org/officeDocument/2006/relationships" id="278" r:id="Rb0ebeb85c0d347ba"/>
    <p:sldId xmlns:r="http://schemas.openxmlformats.org/officeDocument/2006/relationships" id="279" r:id="R32245453e58a4408"/>
    <p:sldId xmlns:r="http://schemas.openxmlformats.org/officeDocument/2006/relationships" id="280" r:id="R1775b978a2fd4d72"/>
    <p:sldId xmlns:r="http://schemas.openxmlformats.org/officeDocument/2006/relationships" id="281" r:id="R99a1b0fae6b0405a"/>
    <p:sldId xmlns:r="http://schemas.openxmlformats.org/officeDocument/2006/relationships" id="282" r:id="Rcd566f9f24f0420a"/>
    <p:sldId xmlns:r="http://schemas.openxmlformats.org/officeDocument/2006/relationships" id="283" r:id="R5f7aa0a86b2e4295"/>
    <p:sldId xmlns:r="http://schemas.openxmlformats.org/officeDocument/2006/relationships" id="284" r:id="Rfa7d6fa41dcb4559"/>
    <p:sldId xmlns:r="http://schemas.openxmlformats.org/officeDocument/2006/relationships" id="285" r:id="R7706b25cc7404b1f"/>
    <p:sldId xmlns:r="http://schemas.openxmlformats.org/officeDocument/2006/relationships" id="286" r:id="R15ebaa1fb05b48d7"/>
    <p:sldId xmlns:r="http://schemas.openxmlformats.org/officeDocument/2006/relationships" id="287" r:id="R20efcd71ce39424b"/>
    <p:sldId xmlns:r="http://schemas.openxmlformats.org/officeDocument/2006/relationships" id="288" r:id="R611df3b8f8924d05"/>
    <p:sldId xmlns:r="http://schemas.openxmlformats.org/officeDocument/2006/relationships" id="289" r:id="R2ce49989799d438b"/>
    <p:sldId xmlns:r="http://schemas.openxmlformats.org/officeDocument/2006/relationships" id="290" r:id="R3eb1129f067347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209a3808144657" /><Relationship Type="http://schemas.openxmlformats.org/officeDocument/2006/relationships/slideMaster" Target="/ppt/slideMasters/slideMaster1.xml" Id="R17559d2cd1594bad" /><Relationship Type="http://schemas.openxmlformats.org/officeDocument/2006/relationships/notesMaster" Target="/ppt/notesMasters/notesMaster1.xml" Id="R4717e28349f2447b" /><Relationship Type="http://schemas.openxmlformats.org/officeDocument/2006/relationships/presProps" Target="/ppt/presProps.xml" Id="Rd93ff499003c45c3" /><Relationship Type="http://schemas.openxmlformats.org/officeDocument/2006/relationships/tableStyles" Target="/ppt/tableStyles.xml" Id="R93b42d88f27b4536" /><Relationship Type="http://schemas.openxmlformats.org/officeDocument/2006/relationships/slide" Target="/ppt/slides/slide1.xml" Id="R1a92a802debe4f40" /><Relationship Type="http://schemas.openxmlformats.org/officeDocument/2006/relationships/slide" Target="/ppt/slides/slide2.xml" Id="R65501f08033d475f" /><Relationship Type="http://schemas.openxmlformats.org/officeDocument/2006/relationships/slide" Target="/ppt/slides/slide3.xml" Id="Rd1486173d3dd4fb1" /><Relationship Type="http://schemas.openxmlformats.org/officeDocument/2006/relationships/slide" Target="/ppt/slides/slide4.xml" Id="R4a3230757e954076" /><Relationship Type="http://schemas.openxmlformats.org/officeDocument/2006/relationships/slide" Target="/ppt/slides/slide5.xml" Id="Re78c7b8fcc7844d0" /><Relationship Type="http://schemas.openxmlformats.org/officeDocument/2006/relationships/slide" Target="/ppt/slides/slide6.xml" Id="Rcf63145982024495" /><Relationship Type="http://schemas.openxmlformats.org/officeDocument/2006/relationships/slide" Target="/ppt/slides/slide7.xml" Id="R6b6fb177abd44933" /><Relationship Type="http://schemas.openxmlformats.org/officeDocument/2006/relationships/slide" Target="/ppt/slides/slide8.xml" Id="R236075677b42431b" /><Relationship Type="http://schemas.openxmlformats.org/officeDocument/2006/relationships/slide" Target="/ppt/slides/slide9.xml" Id="R883c0798b2af450a" /><Relationship Type="http://schemas.openxmlformats.org/officeDocument/2006/relationships/slide" Target="/ppt/slides/slide10.xml" Id="Rdddbfd4252a3483b" /><Relationship Type="http://schemas.openxmlformats.org/officeDocument/2006/relationships/slide" Target="/ppt/slides/slide11.xml" Id="R6011ca5315e94cfc" /><Relationship Type="http://schemas.openxmlformats.org/officeDocument/2006/relationships/slide" Target="/ppt/slides/slide12.xml" Id="R8d97d7f8513044aa" /><Relationship Type="http://schemas.openxmlformats.org/officeDocument/2006/relationships/slide" Target="/ppt/slides/slide13.xml" Id="R3eaca42d01c04900" /><Relationship Type="http://schemas.openxmlformats.org/officeDocument/2006/relationships/slide" Target="/ppt/slides/slide14.xml" Id="Rc5efd2164f5c4691" /><Relationship Type="http://schemas.openxmlformats.org/officeDocument/2006/relationships/slide" Target="/ppt/slides/slide15.xml" Id="Re0b017d457304ae4" /><Relationship Type="http://schemas.openxmlformats.org/officeDocument/2006/relationships/slide" Target="/ppt/slides/slide16.xml" Id="R7be8ac1f6b614746" /><Relationship Type="http://schemas.openxmlformats.org/officeDocument/2006/relationships/slide" Target="/ppt/slides/slide17.xml" Id="R450c005c11be4390" /><Relationship Type="http://schemas.openxmlformats.org/officeDocument/2006/relationships/slide" Target="/ppt/slides/slide18.xml" Id="R99b85485c324427e" /><Relationship Type="http://schemas.openxmlformats.org/officeDocument/2006/relationships/slide" Target="/ppt/slides/slide19.xml" Id="R94c5a1b49e024023" /><Relationship Type="http://schemas.openxmlformats.org/officeDocument/2006/relationships/slide" Target="/ppt/slides/slide20.xml" Id="R530d5666efff4198" /><Relationship Type="http://schemas.openxmlformats.org/officeDocument/2006/relationships/slide" Target="/ppt/slides/slide21.xml" Id="R9221fab2519349f4" /><Relationship Type="http://schemas.openxmlformats.org/officeDocument/2006/relationships/slide" Target="/ppt/slides/slide22.xml" Id="R29ae89fb4b85479d" /><Relationship Type="http://schemas.openxmlformats.org/officeDocument/2006/relationships/slide" Target="/ppt/slides/slide23.xml" Id="Rb0ebeb85c0d347ba" /><Relationship Type="http://schemas.openxmlformats.org/officeDocument/2006/relationships/slide" Target="/ppt/slides/slide24.xml" Id="R32245453e58a4408" /><Relationship Type="http://schemas.openxmlformats.org/officeDocument/2006/relationships/slide" Target="/ppt/slides/slide25.xml" Id="R1775b978a2fd4d72" /><Relationship Type="http://schemas.openxmlformats.org/officeDocument/2006/relationships/slide" Target="/ppt/slides/slide26.xml" Id="R99a1b0fae6b0405a" /><Relationship Type="http://schemas.openxmlformats.org/officeDocument/2006/relationships/slide" Target="/ppt/slides/slide27.xml" Id="Rcd566f9f24f0420a" /><Relationship Type="http://schemas.openxmlformats.org/officeDocument/2006/relationships/slide" Target="/ppt/slides/slide28.xml" Id="R5f7aa0a86b2e4295" /><Relationship Type="http://schemas.openxmlformats.org/officeDocument/2006/relationships/slide" Target="/ppt/slides/slide29.xml" Id="Rfa7d6fa41dcb4559" /><Relationship Type="http://schemas.openxmlformats.org/officeDocument/2006/relationships/slide" Target="/ppt/slides/slide30.xml" Id="R7706b25cc7404b1f" /><Relationship Type="http://schemas.openxmlformats.org/officeDocument/2006/relationships/slide" Target="/ppt/slides/slide31.xml" Id="R15ebaa1fb05b48d7" /><Relationship Type="http://schemas.openxmlformats.org/officeDocument/2006/relationships/slide" Target="/ppt/slides/slide32.xml" Id="R20efcd71ce39424b" /><Relationship Type="http://schemas.openxmlformats.org/officeDocument/2006/relationships/slide" Target="/ppt/slides/slide33.xml" Id="R611df3b8f8924d05" /><Relationship Type="http://schemas.openxmlformats.org/officeDocument/2006/relationships/slide" Target="/ppt/slides/slide34.xml" Id="R2ce49989799d438b" /><Relationship Type="http://schemas.openxmlformats.org/officeDocument/2006/relationships/slide" Target="/ppt/slides/slide35.xml" Id="R3eb1129f0673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1351ef5d3e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51d8b9d54c49f1" /><Relationship Type="http://schemas.openxmlformats.org/officeDocument/2006/relationships/notesMaster" Target="/ppt/notesMasters/notesMaster1.xml" Id="R2955be09d8b344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6d41238a624ee6" /><Relationship Type="http://schemas.openxmlformats.org/officeDocument/2006/relationships/notesMaster" Target="/ppt/notesMasters/notesMaster1.xml" Id="Ra0410661cf3e4b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31d5a5e6ce47c0" /><Relationship Type="http://schemas.openxmlformats.org/officeDocument/2006/relationships/notesMaster" Target="/ppt/notesMasters/notesMaster1.xml" Id="R49876f4f37ed48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db7c80d394fca" /><Relationship Type="http://schemas.openxmlformats.org/officeDocument/2006/relationships/notesMaster" Target="/ppt/notesMasters/notesMaster1.xml" Id="R99b01c6b86d1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87adc506df4bbd" /><Relationship Type="http://schemas.openxmlformats.org/officeDocument/2006/relationships/notesMaster" Target="/ppt/notesMasters/notesMaster1.xml" Id="Rc02d042c921541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8cc026d91746df" /><Relationship Type="http://schemas.openxmlformats.org/officeDocument/2006/relationships/notesMaster" Target="/ppt/notesMasters/notesMaster1.xml" Id="R2d82c5c3fb1143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7f41722f844942" /><Relationship Type="http://schemas.openxmlformats.org/officeDocument/2006/relationships/notesMaster" Target="/ppt/notesMasters/notesMaster1.xml" Id="R852ec92f25de49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e6f014d3ef4632" /><Relationship Type="http://schemas.openxmlformats.org/officeDocument/2006/relationships/notesMaster" Target="/ppt/notesMasters/notesMaster1.xml" Id="Rb856fd2652ea4d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06b10991eb4bce" /><Relationship Type="http://schemas.openxmlformats.org/officeDocument/2006/relationships/notesMaster" Target="/ppt/notesMasters/notesMaster1.xml" Id="R4eaadc3503e145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3a044248914a58" /><Relationship Type="http://schemas.openxmlformats.org/officeDocument/2006/relationships/notesMaster" Target="/ppt/notesMasters/notesMaster1.xml" Id="Rd33109d4cf2041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6c4bf81bb84849" /><Relationship Type="http://schemas.openxmlformats.org/officeDocument/2006/relationships/notesMaster" Target="/ppt/notesMasters/notesMaster1.xml" Id="Rd46c4c1ea3634b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35f7d7af5e4a00" /><Relationship Type="http://schemas.openxmlformats.org/officeDocument/2006/relationships/notesMaster" Target="/ppt/notesMasters/notesMaster1.xml" Id="R7f43668f80ba44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ded04a34cd461f" /><Relationship Type="http://schemas.openxmlformats.org/officeDocument/2006/relationships/notesMaster" Target="/ppt/notesMasters/notesMaster1.xml" Id="Rda41e65a6c3b45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5cc7d3db9a43b8" /><Relationship Type="http://schemas.openxmlformats.org/officeDocument/2006/relationships/notesMaster" Target="/ppt/notesMasters/notesMaster1.xml" Id="R1d68b7962a2d4d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2cf2c846d841db" /><Relationship Type="http://schemas.openxmlformats.org/officeDocument/2006/relationships/notesMaster" Target="/ppt/notesMasters/notesMaster1.xml" Id="Rdc37e816af324a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df7f0cce2742b6" /><Relationship Type="http://schemas.openxmlformats.org/officeDocument/2006/relationships/notesMaster" Target="/ppt/notesMasters/notesMaster1.xml" Id="Ra912c4df679444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a3a883823c4e60" /><Relationship Type="http://schemas.openxmlformats.org/officeDocument/2006/relationships/notesMaster" Target="/ppt/notesMasters/notesMaster1.xml" Id="Ra343c719f6b046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80245b80534c50" /><Relationship Type="http://schemas.openxmlformats.org/officeDocument/2006/relationships/notesMaster" Target="/ppt/notesMasters/notesMaster1.xml" Id="R6c58228471294d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746f024a064c42" /><Relationship Type="http://schemas.openxmlformats.org/officeDocument/2006/relationships/notesMaster" Target="/ppt/notesMasters/notesMaster1.xml" Id="R94166fbd3bc444a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a76bc0a7f64cb1" /><Relationship Type="http://schemas.openxmlformats.org/officeDocument/2006/relationships/notesMaster" Target="/ppt/notesMasters/notesMaster1.xml" Id="R7e510315b60140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2eba3ab9974433" /><Relationship Type="http://schemas.openxmlformats.org/officeDocument/2006/relationships/notesMaster" Target="/ppt/notesMasters/notesMaster1.xml" Id="R3210f9c449024a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79693a08d24d33" /><Relationship Type="http://schemas.openxmlformats.org/officeDocument/2006/relationships/notesMaster" Target="/ppt/notesMasters/notesMaster1.xml" Id="R9fd1d760fa244c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5efff07a6349db" /><Relationship Type="http://schemas.openxmlformats.org/officeDocument/2006/relationships/notesMaster" Target="/ppt/notesMasters/notesMaster1.xml" Id="Rc9dd49a3bac6462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a1694573f84d53" /><Relationship Type="http://schemas.openxmlformats.org/officeDocument/2006/relationships/notesMaster" Target="/ppt/notesMasters/notesMaster1.xml" Id="Re177b042dc1d4f0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5ccff91d9cf4ab9" /><Relationship Type="http://schemas.openxmlformats.org/officeDocument/2006/relationships/notesMaster" Target="/ppt/notesMasters/notesMaster1.xml" Id="R410bfb169fe741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98d5800dbdd482b" /><Relationship Type="http://schemas.openxmlformats.org/officeDocument/2006/relationships/notesMaster" Target="/ppt/notesMasters/notesMaster1.xml" Id="Rfb02d3b925594e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f93d90ec0a4dc1" /><Relationship Type="http://schemas.openxmlformats.org/officeDocument/2006/relationships/notesMaster" Target="/ppt/notesMasters/notesMaster1.xml" Id="Rddd6f37573ba4ff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adda3ddf8d6427e" /><Relationship Type="http://schemas.openxmlformats.org/officeDocument/2006/relationships/notesMaster" Target="/ppt/notesMasters/notesMaster1.xml" Id="R90bebd3c2a5e40b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3a40a9b81bd4f5e" /><Relationship Type="http://schemas.openxmlformats.org/officeDocument/2006/relationships/notesMaster" Target="/ppt/notesMasters/notesMaster1.xml" Id="Rdd5a522bc98e46f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362fd9c01d4780" /><Relationship Type="http://schemas.openxmlformats.org/officeDocument/2006/relationships/notesMaster" Target="/ppt/notesMasters/notesMaster1.xml" Id="Rbffa5a14b50c4f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6f920401587492f" /><Relationship Type="http://schemas.openxmlformats.org/officeDocument/2006/relationships/notesMaster" Target="/ppt/notesMasters/notesMaster1.xml" Id="R3b45e84bd81a4c8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b45b073f7b74126" /><Relationship Type="http://schemas.openxmlformats.org/officeDocument/2006/relationships/notesMaster" Target="/ppt/notesMasters/notesMaster1.xml" Id="R925f8b02fec3432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c2fdd405cf041c1" /><Relationship Type="http://schemas.openxmlformats.org/officeDocument/2006/relationships/notesMaster" Target="/ppt/notesMasters/notesMaster1.xml" Id="Rb81e3cf92253445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7bc1dcca7f4f27" /><Relationship Type="http://schemas.openxmlformats.org/officeDocument/2006/relationships/notesMaster" Target="/ppt/notesMasters/notesMaster1.xml" Id="Rd97fdf8f5db4498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f31e765bd4f4cbb" /><Relationship Type="http://schemas.openxmlformats.org/officeDocument/2006/relationships/notesMaster" Target="/ppt/notesMasters/notesMaster1.xml" Id="Ra958eb94c49745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封面截图来源：docs/presentation-assets/screenshots/desktop/01-login.jpg。标题与主线来自 docs/面试汇报PPT设计方案.md 与 README.md。右侧截图为当前本地 3000 端口运行界面。</a:t>
            </a:r>
          </a:p>
          <a:p xmlns:a="http://schemas.openxmlformats.org/drawingml/2006/main">
            <a:r>
              <a:t>能力边界：本页只展示真实界面，不将视觉稿表述为生产能力。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依据：README.md 的产品目标与 docs/架构与交付说明.md 第 1 节。四个断点为产品归纳，不是外部统计结论。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截图来源：docs/presentation-assets/screenshots/desktop/02-workbench.jpg。任务目标与输入输出来自 README.md“从 0 到 1 验收”主线 A。页面中演示数据明确标注为合成练习数据。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依据：需求 DOCX 的四项任务要求、docs/面试汇报PPT设计方案.md 第 1 节和 README.md 的真实能力边界。Biomni 为用户提供的参考站点，本页不复制其品牌素材。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依据：README.md“面试可见亮点”和“真实能力边界”、docs/架构与交付说明.md 第 4 节。REAL/ADAPTER/NEXT 是本项目对能力成熟度的诚实标记。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截图来源：docs/presentation-assets/screenshots/desktop/01-login.jpg。角色权限与错误码依据 docs/API接口规范.md 1.3、3.1 和 README.md 默认账号表。截图中不展示任何 Token 或密钥。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截图来源：docs/presentation-assets/screenshots/desktop/15-admin-rbac-final.jpg。权限总数和权限码来源 docs/API接口规范.md 1.3 与管理员页面当前运行数据。当前本地实现使用 auth-users.json 持久化，生产目标见 docs/数据库设计.sql。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截图来源：docs/presentation-assets/screenshots/desktop/03-onboarding.jpg。指引内容依据 docs/演示脚本.md 和 README.md 验收路径。操作指引强调从 0 到 1 的可重复路线。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主流程来自 README.md 产品目标、docs/面试汇报PPT设计方案.md 第 1 节和 docs/演示脚本.md。图中为可编辑流程图，便于面试官追问每一段的实现。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依据：docs/架构与交付说明.md 6.1–6.3、README.md 文件工作区说明。解析器名称来自 services 依赖和当前文件中心页面。扫描件 OCR 明确是可选 Adapter。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截图来源：docs/presentation-assets/screenshots/desktop/16-file-preview-final.jpg。页面展示真实文件列表、表格预览、解析器、字符数、检索块数、SHA-256 和删除入口。字段定义依据 docs/API接口规范.md 2.4。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截图来源：docs/presentation-assets/screenshots/desktop/05-counts-preview.jpg 与 16-file-preview-final.jpg。文件中心预览为当前版本，工作台截图为项目内已有的真实数据集预览。产品判断依据 README.md 的文件验收路径。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依据：docs/架构与交付说明.md 6.3、README.md RAG 亮点和 docs/API接口规范.md 中 RAG/Trace 字段。图示保留当前未配置 cross-encoder 时的 RRF 诚实表述。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依据：README.md RAG 与真实 LLM 亮点、docs/架构与交付说明.md 6–7 节。页面描述的是服务端链路，未配置 LLM 时的回退会明确标记为 Adapter。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依据：lib/agent-mode.ts、docs/API接口规范.md 中计划请求字段，以及 README.md 的模式验收说明。具体模型参数映射以当前代码为准，未把模式包装成模型能力等级承诺。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截图来源：docs/presentation-assets/screenshots/desktop/12-sse-timeline-final.jpg。事件名称与字段依据 docs/API接口规范.md 1.6、7 节；Fetch 流式方案与原生 EventSource 的取舍见 README.md 和 docs/演示脚本.md。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依据：ClarificationCard.tsx、README.md 主线 A、docs/API接口规范.md ResearchTask clarification/plan 字段。审批节点是产品责任边界，不声称替代专业判断。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截图来源：docs/presentation-assets/screenshots/desktop/13-run-canvas-final.jpg 与 12-sse-timeline-final.jpg。两种视图由 RunStreamTrace.tsx 共享事件状态，页面当前展示取消状态也保留失败/恢复证据。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截图来源：docs/presentation-assets/screenshots/desktop/14-workflow-canvas-final.jpg。交互合同来自 WorkflowCanvas.tsx、lib/workflow-layout.ts 和 README.md 主线 C。当前 3D/画布视觉展示不等同于完整 Mol*。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依据：lib/workflow-layout.ts、lib/store.ts、docs/架构与交付说明.md 9 节及数据库设计.sql workflow 相关表。该页是工程机制示意，所有箭头和标签均为可编辑对象。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依据：services/requirements.txt、services/analysis_worker.py（若存在）、docs/架构与交付说明.md 7–8 节、README.md 主线 A。页面只宣称 PyDESeq2 真实执行，不宣称结果具有临床结论。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依据：docs/架构与交付说明.md 8 节、docs/API接口规范.md 1.6 和 README.md 真实计算验收步骤。事件名称是当前实现契约的简化展示。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依据：docs/API接口规范.md 通用错误与分析作业字段、README.md 当前限制与失败恢复说明。状态迁移图表达产品合同，不代表所有错误都可自动重试。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截图来源：docs/presentation-assets/screenshots/desktop/09-results-volcano.jpg。产物名称和血缘链路来自 README.md 与 docs/架构与交付说明.md 8–9 节。截图中的候选基因数字属于演示数据，不做科学结论外推。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截图来源：docs/presentation-assets/screenshots/desktop/09-results-volcano.jpg。候选基因与指标来自页面演示数据，仅作为交互展示，不构成真实生物学结论。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截图来源：docs/presentation-assets/screenshots/desktop/08-3d-structure.jpg。当前结构查看器实现见 components/structure 与 lib/structure-adapter.ts；README.md 明确声明完整 Mol* 尚未接入。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截图来源：docs/presentation-assets/screenshots/desktop/18-skill-center-final.jpg 与 19-rag-skill-detail-final.jpg。技能契约内容依据当前 SkillCatalog.tsx、app/skills/[skillId]/page.tsx 和 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示意图依据 app/product.css、app/ui-contract.css、components/navigation 与当前浏览器回归。该页不把单张截图当成所有断点的完整证明；移动端布局以任务切换、工具入口、吸顶与局部 Loading 的 CSS 合同为验收对象。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依据：用户多轮验收反馈、app/product.css、components/ui/ResponsiveDialog.tsx、components/ContentLoading.tsx 与 docs/原子级产品验收清单.md。该页把已修复的交互问题抽象成可复用设计合同。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依据：docs/架构与交付说明.md 2 节与 README.md 架构图。图中层次为当前本地运行架构的简化表达，生产迁移目标另见 DDL 和架构文档。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依据：docs/API接口规范.md 全文，尤其 1.1–1.6 与各接口章节。Token 只在 sessionStorage，浏览器请求统一注入 Authorization；生产强化建议也在文档中明确写出。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依据：README.md 技术栈、当前持久化和环境变量章节；docs/架构与交付说明.md 5–6 节；docs/数据库设计.sql 生产目标模型。选型理由是项目约束下的工程判断，不是普适排名。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依据：docs/面试汇报PPT设计方案.md 第 6 节、README.md 质量门禁、docs/原子级产品验收清单.md。该页描述方法论，避免把 AI 辅助包装成无需 Review 的自动化。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依据：README.md“90 秒启动”和“从 0 到 1 验收”、docs/演示脚本.md。账号是项目默认演示账号，演示时不要展示 .env.local、Token、哈希或个人文件。GitHub 地址为用户提供的远程仓库。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收尾依据：需求 DOCX 四项任务要求、README.md 亮点与边界、docs/面试汇报PPT设计方案.md。最后一句主动披露当前能力边界，避免把 Adapter 包装为生产能力。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5f447973242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c717b886b44a8" /><Relationship Type="http://schemas.openxmlformats.org/officeDocument/2006/relationships/slideLayout" Target="/ppt/slideLayouts/slideLayout1.xml" Id="R0551a98ccfcc4b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1a98ccfcc4b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c7a6cf4f14fad" /><Relationship Type="http://schemas.openxmlformats.org/officeDocument/2006/relationships/image" Target="/ppt/media/image.jpeg" Id="R8fe236d7e0fd47a8" /><Relationship Type="http://schemas.openxmlformats.org/officeDocument/2006/relationships/notesSlide" Target="/ppt/notesSlides/notesSlide1.xml" Id="Rdf4d035fedb745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fb6e4913b4a66" /><Relationship Type="http://schemas.openxmlformats.org/officeDocument/2006/relationships/notesSlide" Target="/ppt/notesSlides/notesSlide2.xml" Id="R91bd440fa61e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a41e83f734330" /><Relationship Type="http://schemas.openxmlformats.org/officeDocument/2006/relationships/image" Target="/ppt/media/image2.jpeg" Id="R209a879602d543e4" /><Relationship Type="http://schemas.openxmlformats.org/officeDocument/2006/relationships/notesSlide" Target="/ppt/notesSlides/notesSlide3.xml" Id="R649b41a9b6334c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2a40634f742dd" /><Relationship Type="http://schemas.openxmlformats.org/officeDocument/2006/relationships/notesSlide" Target="/ppt/notesSlides/notesSlide4.xml" Id="R4305eceb24264d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c8696b9e04ee1" /><Relationship Type="http://schemas.openxmlformats.org/officeDocument/2006/relationships/notesSlide" Target="/ppt/notesSlides/notesSlide5.xml" Id="R2a346022ed0d44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d7c77a61943ed" /><Relationship Type="http://schemas.openxmlformats.org/officeDocument/2006/relationships/image" Target="/ppt/media/image3.jpeg" Id="R5bf5334649d44599" /><Relationship Type="http://schemas.openxmlformats.org/officeDocument/2006/relationships/notesSlide" Target="/ppt/notesSlides/notesSlide6.xml" Id="R2f8ad5ca66c045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315e111414929" /><Relationship Type="http://schemas.openxmlformats.org/officeDocument/2006/relationships/image" Target="/ppt/media/image4.jpeg" Id="R1064796695d84f82" /><Relationship Type="http://schemas.openxmlformats.org/officeDocument/2006/relationships/notesSlide" Target="/ppt/notesSlides/notesSlide7.xml" Id="R6446b214c1ab4e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c96afa90141f1" /><Relationship Type="http://schemas.openxmlformats.org/officeDocument/2006/relationships/image" Target="/ppt/media/image5.jpeg" Id="Re83ef7dc83d440c9" /><Relationship Type="http://schemas.openxmlformats.org/officeDocument/2006/relationships/notesSlide" Target="/ppt/notesSlides/notesSlide8.xml" Id="R9f499c2a502745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e386c2d714941" /><Relationship Type="http://schemas.openxmlformats.org/officeDocument/2006/relationships/notesSlide" Target="/ppt/notesSlides/notesSlide9.xml" Id="R0770689b8df24a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032e172f6432b" /><Relationship Type="http://schemas.openxmlformats.org/officeDocument/2006/relationships/notesSlide" Target="/ppt/notesSlides/notesSlide10.xml" Id="Ree813d3f39a444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0fee5684549c2" /><Relationship Type="http://schemas.openxmlformats.org/officeDocument/2006/relationships/image" Target="/ppt/media/image6.jpeg" Id="R52ae1c54a27c46fc" /><Relationship Type="http://schemas.openxmlformats.org/officeDocument/2006/relationships/notesSlide" Target="/ppt/notesSlides/notesSlide11.xml" Id="Rbb6016e71a9247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e9adcd40e4b98" /><Relationship Type="http://schemas.openxmlformats.org/officeDocument/2006/relationships/image" Target="/ppt/media/image7.jpeg" Id="R69a39ee531a94df0" /><Relationship Type="http://schemas.openxmlformats.org/officeDocument/2006/relationships/image" Target="/ppt/media/image8.jpeg" Id="Rad402d75d8784345" /><Relationship Type="http://schemas.openxmlformats.org/officeDocument/2006/relationships/notesSlide" Target="/ppt/notesSlides/notesSlide12.xml" Id="R191514a8813243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16be825ad4821" /><Relationship Type="http://schemas.openxmlformats.org/officeDocument/2006/relationships/notesSlide" Target="/ppt/notesSlides/notesSlide13.xml" Id="Rf1b27fb952d041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0c74b791a415e" /><Relationship Type="http://schemas.openxmlformats.org/officeDocument/2006/relationships/notesSlide" Target="/ppt/notesSlides/notesSlide14.xml" Id="Rd208f4bdc36447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3fabe68e744c2" /><Relationship Type="http://schemas.openxmlformats.org/officeDocument/2006/relationships/notesSlide" Target="/ppt/notesSlides/notesSlide15.xml" Id="R68ce484f526c4d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c3edffc8b4f05" /><Relationship Type="http://schemas.openxmlformats.org/officeDocument/2006/relationships/image" Target="/ppt/media/image9.jpeg" Id="R26f61358b95047aa" /><Relationship Type="http://schemas.openxmlformats.org/officeDocument/2006/relationships/notesSlide" Target="/ppt/notesSlides/notesSlide16.xml" Id="R7f66a4fc4e964c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d9894a6324bc5" /><Relationship Type="http://schemas.openxmlformats.org/officeDocument/2006/relationships/notesSlide" Target="/ppt/notesSlides/notesSlide17.xml" Id="Rbb95517eea614f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63172fcc44dc2" /><Relationship Type="http://schemas.openxmlformats.org/officeDocument/2006/relationships/image" Target="/ppt/media/image10.jpeg" Id="Rfcff6f5b11ee4099" /><Relationship Type="http://schemas.openxmlformats.org/officeDocument/2006/relationships/image" Target="/ppt/media/image11.jpeg" Id="R433336f741ff410a" /><Relationship Type="http://schemas.openxmlformats.org/officeDocument/2006/relationships/notesSlide" Target="/ppt/notesSlides/notesSlide18.xml" Id="R982539826c9c4a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f04f925244d2e" /><Relationship Type="http://schemas.openxmlformats.org/officeDocument/2006/relationships/image" Target="/ppt/media/image12.jpeg" Id="R987cbe6605a04f44" /><Relationship Type="http://schemas.openxmlformats.org/officeDocument/2006/relationships/notesSlide" Target="/ppt/notesSlides/notesSlide19.xml" Id="R4e2d50f8e3a348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13de50f734fc1" /><Relationship Type="http://schemas.openxmlformats.org/officeDocument/2006/relationships/notesSlide" Target="/ppt/notesSlides/notesSlide20.xml" Id="R7c46a6b789df42b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e0978cac54dd9" /><Relationship Type="http://schemas.openxmlformats.org/officeDocument/2006/relationships/notesSlide" Target="/ppt/notesSlides/notesSlide21.xml" Id="R0e56f0c0443d4bb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d485211544565" /><Relationship Type="http://schemas.openxmlformats.org/officeDocument/2006/relationships/notesSlide" Target="/ppt/notesSlides/notesSlide22.xml" Id="Re278d1a0fa4e45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c8a824f8e4ac9" /><Relationship Type="http://schemas.openxmlformats.org/officeDocument/2006/relationships/notesSlide" Target="/ppt/notesSlides/notesSlide23.xml" Id="R4f1b83aca31d482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07d149d294c05" /><Relationship Type="http://schemas.openxmlformats.org/officeDocument/2006/relationships/image" Target="/ppt/media/image13.jpeg" Id="R8f6ae33c48d443f5" /><Relationship Type="http://schemas.openxmlformats.org/officeDocument/2006/relationships/notesSlide" Target="/ppt/notesSlides/notesSlide24.xml" Id="Rad90e7c3f1ac47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3f44e1e124e88" /><Relationship Type="http://schemas.openxmlformats.org/officeDocument/2006/relationships/image" Target="/ppt/media/image14.jpeg" Id="R067f326610e24b6f" /><Relationship Type="http://schemas.openxmlformats.org/officeDocument/2006/relationships/notesSlide" Target="/ppt/notesSlides/notesSlide25.xml" Id="R85379c76a177418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eb25bf7734c3a" /><Relationship Type="http://schemas.openxmlformats.org/officeDocument/2006/relationships/image" Target="/ppt/media/image15.jpeg" Id="R613ac6439f7f4d31" /><Relationship Type="http://schemas.openxmlformats.org/officeDocument/2006/relationships/notesSlide" Target="/ppt/notesSlides/notesSlide26.xml" Id="R9748fc4bb490456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0ca2a2abe44fc" /><Relationship Type="http://schemas.openxmlformats.org/officeDocument/2006/relationships/image" Target="/ppt/media/image16.jpeg" Id="Rbf1c34a02bd74654" /><Relationship Type="http://schemas.openxmlformats.org/officeDocument/2006/relationships/image" Target="/ppt/media/image17.jpeg" Id="R44c0886d7cb542e5" /><Relationship Type="http://schemas.openxmlformats.org/officeDocument/2006/relationships/notesSlide" Target="/ppt/notesSlides/notesSlide27.xml" Id="R66dd387139e242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b10ed6e3040a9" /><Relationship Type="http://schemas.openxmlformats.org/officeDocument/2006/relationships/notesSlide" Target="/ppt/notesSlides/notesSlide28.xml" Id="Rb3f092b15f6d4ff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e4563b99a4767" /><Relationship Type="http://schemas.openxmlformats.org/officeDocument/2006/relationships/notesSlide" Target="/ppt/notesSlides/notesSlide29.xml" Id="R15271ad02f5b45f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a8d6dd33c4084" /><Relationship Type="http://schemas.openxmlformats.org/officeDocument/2006/relationships/notesSlide" Target="/ppt/notesSlides/notesSlide30.xml" Id="R08e7bfc65f204e0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bb7beedd24221" /><Relationship Type="http://schemas.openxmlformats.org/officeDocument/2006/relationships/notesSlide" Target="/ppt/notesSlides/notesSlide31.xml" Id="R74dc1af0d90a4e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f7ca4edd14482" /><Relationship Type="http://schemas.openxmlformats.org/officeDocument/2006/relationships/notesSlide" Target="/ppt/notesSlides/notesSlide32.xml" Id="R3e4d77be00b04ab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d8e5ccc47428b" /><Relationship Type="http://schemas.openxmlformats.org/officeDocument/2006/relationships/notesSlide" Target="/ppt/notesSlides/notesSlide33.xml" Id="R19ee760273284c6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49f39b07c4c4d" /><Relationship Type="http://schemas.openxmlformats.org/officeDocument/2006/relationships/notesSlide" Target="/ppt/notesSlides/notesSlide34.xml" Id="R83d98cd3c2634f0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130d915d143bf" /><Relationship Type="http://schemas.openxmlformats.org/officeDocument/2006/relationships/notesSlide" Target="/ppt/notesSlides/notesSlide35.xml" Id="R6928b19539d248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236d7e0fd47a8"/>
          <a:srcRect xmlns:a="http://schemas.openxmlformats.org/drawingml/2006/main" l="23345" t="0" r="233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0"/>
            <a:ext cx="57626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0BDAA-E333-4451-9F8B-8FE60DD1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2C">
              <a:alpha val="14000"/>
            </a:srgbClr>
          </a:solidFill>
          <a:ln xmlns:a="http://schemas.openxmlformats.org/drawingml/2006/main" w="0">
            <a:solidFill>
              <a:srgbClr val="17302C">
                <a:alpha val="1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0105E-9370-4BA9-A5DC-7FE81244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BIOFLOW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2B60D-CCE2-4496-9169-B183664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42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从研究问题到</a:t>
            </a:r>
          </a:p>
          <a:p xmlns:a="http://schemas.openxmlformats.org/drawingml/2006/main">
            <a:pPr algn="l">
              <a:defRPr sz="39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可复现证据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85715-33C0-4DBB-8E38-3C63C97D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生命科学智能体工作台的产品与工程实现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DF5B9-E78F-4558-8C3E-49E6AE2C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01930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03729-3924-44F0-A6FB-42863F7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面试汇报  ·  2026.09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CEDA0-C8B5-4DB1-B5FD-2B22A1D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一条可审查、可干预、可恢复的研究任务链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46401-EB99-440A-A607-BFA92BF3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登录与角色  →  材料解析  →  RAG 证据  →  Agent 计划</a:t>
            </a:r>
          </a:p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→  人工审批  →  异步计算  →  结果与血缘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04243-333C-4698-B6D3-9626736A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B8E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517F1-822C-4A32-A147-71971E40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GitHub  /  github.com/fys-bot/bio-studio</a:t>
            </a:r>
          </a:p>
        </p:txBody>
      </p:sp>
    </p:spTree>
    <p:extLst>
      <p:ext uri="{BB962C8B-B14F-4D97-AF65-F5344CB8AC3E}">
        <p14:creationId xmlns:p14="http://schemas.microsoft.com/office/powerpoint/2010/main" val="1873659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6941C8-BA2E-4EF1-AB40-E9301FD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01  产品定位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8521E-DCFD-4406-A889-412037E0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研究人员首先要确定：这条分析路径可信吗？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ABDF8-FFD1-4DE4-9711-F448B8EC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复杂科研任务的核心矛盾不是缺少一个聊天框，而是上下文、证据、执行与结果彼此脱节。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30090-E513-4FD9-BFA1-AB4F7548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338B5-0A3A-40AC-BF62-E0FC2A08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BCE50-8B99-4166-B0B3-3D1E5C74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74A80-D54C-41B3-9C06-71C8488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4319F-1810-41A0-8704-DDC00E0D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8853D-E769-4723-8134-4BF3D927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1BF3F-71C0-46C0-84E9-711C3BB1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D9028-B546-48F3-A830-4B71156B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3B00F-E5AB-424D-879B-4E480FF1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D0B30-257C-493C-A604-27ADC547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54FED-0040-406F-AD52-06B322AA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B19D9-A1F3-4850-8034-D760F92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C0A19-C913-4CD0-AD3D-4A2EAC46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097D4-EE58-4DF7-9CA3-9B125244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FE77A-A196-49BB-A659-D0D8B8C0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257F5-23A9-4D10-A5C9-DBAE16FF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63D4F-A61E-447D-9CE3-A9AEFC2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1A730-6FF5-4397-A614-5C849DCB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F1934-FEE2-4079-A475-6AFD6DB6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E7EF1-9657-475E-B2AF-C11AB4BE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3ED61-ED77-4A39-9FF7-74BD2ABC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CD53B-7162-4003-A3C5-1821E1C6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1AEF9-0514-4702-9F8E-13DCAA7C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3793D-F957-49BC-B247-A62254B5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8F2AC6-3A22-4DB1-889B-9062E162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0">
            <a:solidFill>
              <a:srgbClr val="176E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3822B-FC67-4532-BA8E-A84ED774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研究问题的四个断点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C39888-F17D-46F0-8FA3-62BCD7D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4003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9525">
            <a:solidFill>
              <a:srgbClr val="E4EC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B9F8B-AF94-4994-86C9-D996322D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AFB50-7E2B-479E-A23B-DFF7CC07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353AB3-06D2-4904-BFE1-2D99815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E0852-B46A-4290-99B7-51EB7C88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文件散落在项目目录，格式和结构未知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4BBF30-F414-4BB2-9328-6D9EEA8E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24003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E26CCF-E9DF-4FB4-BE3D-4E83A8F8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38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B0CF29-60E6-41E3-85CC-4C656B07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86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015174-5DB3-48A1-83D0-66E4EF2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05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9DADF7-40A1-41BA-B015-6F533302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3147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模型回答缺少来源，参数难以核对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36C0EA-7FD1-4969-921B-439208A6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4003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F7EE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D80D48-0562-4EAB-B2CF-9D24BD39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A13251-43DB-46F6-AE28-6E56CB83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DFFA2D-1E0F-4BFE-B1C1-589A3EDD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4ADAF0-9839-4914-82AE-0244693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长任务只显示等待，失败后难以恢复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4BDA0B-6C49-41ED-B00A-BBE49F77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09800"/>
            <a:ext cx="24003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7E7E4"/>
          </a:solidFill>
          <a:ln xmlns:a="http://schemas.openxmlformats.org/drawingml/2006/main" w="9525">
            <a:solidFill>
              <a:srgbClr val="F7E7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9B73D2-017F-4A84-AD2F-7AE747D7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38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F2061D-596F-4707-B054-7C3BBAF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86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8B7FBC-C93C-434F-BD26-A12E4C0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05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66A51A-9D93-4464-A223-C7A56809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147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图表有了，但过程和血缘没有留下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4A99AC-B64D-42D3-AC05-B35B9E7E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A70E21-8A63-40A0-9106-03ED9061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FF337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DFF337"/>
                </a:solidFill>
                <a:latin typeface="Menlo"/>
                <a:ea typeface="Menlo"/>
                <a:cs typeface="Menlo"/>
              </a:rPr>
              <a:t>产品判断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EB9DBF-72CB-402F-A2E5-408BD858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把黑盒问答变成可审计的研究协作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434E-239F-453A-9612-C3A759C7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958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rPr>
              <a:t>用户可以看见、修改、批准或恢复每一个关键阶段。</a:t>
            </a:r>
          </a:p>
        </p:txBody>
      </p:sp>
    </p:spTree>
    <p:extLst>
      <p:ext uri="{BB962C8B-B14F-4D97-AF65-F5344CB8AC3E}">
        <p14:creationId xmlns:p14="http://schemas.microsoft.com/office/powerpoint/2010/main" val="216869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4D1DE4-2542-4B93-A46D-1746370B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02  场景选择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D8E2D-D812-4D52-910B-A34A9D13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用一个可验收的 RNA-seq 场景承载整条主线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C64A5-45A5-4C0B-AED1-7772D091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选择“处理组 vs 对照组”的差异表达任务，能同时验证文件、RAG、Agent、SSE、计算和结果交付。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59413-76C9-43A9-9B53-678F2570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79E4F-948F-4138-A7DA-5351328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87195-3ADE-45D1-A86B-F36DB06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2FC3B-EC0C-4CB0-82B9-651B606C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5E3E5-AC86-4B1F-B382-428B11A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BD843-85B7-4DB5-9C40-CD5CFEDE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D90A1-16B7-4022-9A75-20822C98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6F55A-99DB-4D8F-B8F1-8B0DBE74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FE495-6B3F-4AF4-9C1E-03943951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18BD3-D927-4454-92F1-CEB8AF83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C7C40-5DC8-4271-A6E0-4626E5C4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D08A6-EB01-4919-939C-8AC18A08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47011-5A08-4F58-BE5A-E77FF71F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E3A7D-4636-4566-B3AB-B9899F22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F2DE3-0A49-4641-A32E-333E1DFB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58A8D-CF9B-4538-90AE-3E00F997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C7E8A-B532-44E3-9290-01451DCE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27C72-41FC-4D53-BE2D-9E7C97D3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99124-94C5-4F20-94DF-EFF010E7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DEA83-F72B-4F97-80C5-109FE752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10C6E-0FE3-4693-8017-12876327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33B9F6-12A3-4053-BACC-E28E215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8CF18-9E5C-423A-87E9-42D3B88E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73C17-C1BB-4926-A8EE-F9798A55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a879602d543e4"/>
          <a:srcRect xmlns:a="http://schemas.openxmlformats.org/drawingml/2006/main" l="0" t="2832" r="0" b="2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09750"/>
            <a:ext cx="6334125" cy="3790950"/>
          </a:xfrm>
          <a:prstGeom xmlns:a="http://schemas.openxmlformats.org/drawingml/2006/main" prst="roundRect">
            <a:avLst>
              <a:gd name="adj" fmla="val 3518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6CEE7D-DD61-4584-9DC6-9CC0D902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334125" cy="3790950"/>
          </a:xfrm>
          <a:prstGeom xmlns:a="http://schemas.openxmlformats.org/drawingml/2006/main" prst="roundRect">
            <a:avLst>
              <a:gd name="adj" fmla="val 3518"/>
            </a:avLst>
          </a:prstGeom>
          <a:solidFill xmlns:a="http://schemas.openxmlformats.org/drawingml/2006/main">
            <a:srgbClr val="17302C">
              <a:alpha val="8000"/>
            </a:srgbClr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0AECB4-A460-4BED-9DD4-EB62DF4E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191000" cy="3790950"/>
          </a:xfrm>
          <a:prstGeom xmlns:a="http://schemas.openxmlformats.org/drawingml/2006/main" prst="roundRect">
            <a:avLst>
              <a:gd name="adj" fmla="val 35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F23E2-3AF7-4911-B7FD-AEC9317C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14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DEMO SCENARIO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2A9BF9-FE57-41EA-8E85-56EB2DBC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比较处理组与对照组</a:t>
            </a:r>
          </a:p>
          <a:p xmlns:a="http://schemas.openxmlformats.org/drawingml/2006/main">
            <a:pPr algn="l">
              <a:defRPr sz="21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识别候选差异基因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98BEC5-CBA2-4374-BEAD-50B21F0D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8EE6B4-C35F-4B74-89DE-AC265DEB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Count 矩阵 + 样本元数据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C07893-91AE-4B1E-A5F4-9DA852F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90D288-336E-4FDC-85F2-73EFFFE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人工确认比较设计与 FDR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69EEF-DEAA-4F68-89F6-3DCEED0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E12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A78E55-E1E8-47D1-942D-2A64F359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PyDESeq2 真实拟合与产物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61AAB7-F802-4CF6-B6E5-7EAA4E57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2133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0075C6-8A5D-46F2-8EFE-322762AB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可重复操作 · 可现场验收</a:t>
            </a:r>
          </a:p>
        </p:txBody>
      </p:sp>
    </p:spTree>
    <p:extLst>
      <p:ext uri="{BB962C8B-B14F-4D97-AF65-F5344CB8AC3E}">
        <p14:creationId xmlns:p14="http://schemas.microsoft.com/office/powerpoint/2010/main" val="553944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1807D2-EDE2-422B-87EC-5BFB390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03  需求逆向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F5720-7C78-4E03-A91B-EB90FD1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先建立用户路径，再决定页面形态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4539F-23C8-4657-91A5-8DC97C02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对 Biomni 的参考停留在用户路径和能力组织方式，产品实现把重点放在过程可见性和可恢复性。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BAEEB-6217-47D7-9C06-AC5867D3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0E04A-1914-4D78-9F67-46E84D3C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29DCA-C1A0-432C-8D19-C488B872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EA156-0622-4A56-B9DD-94CACDF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29AF7-8782-407F-BEF0-01A74930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4C9C3-5BC7-410B-9433-AC706DEA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D938A-160F-4DBD-8DFE-CBE8B248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9E9F7-542F-4A82-B517-69E6A826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422E7-765E-4EB1-BE54-1649855B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0EBA3-E1D4-4C80-83E6-E71CBDF8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1116C-F92C-4346-9C72-A146F5D8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7B1B6-B279-413D-B4F2-DC41C69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22D0C-D5E4-41BE-836A-30285FB5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220BA-36CF-4454-84A6-5754DD7B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64076-64C3-4000-AE96-C7D0547B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E13D1-25D3-45E4-8FEC-35EA880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C3B98-65CA-458C-9A73-7EE0F7D0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FEBF5-0403-49D0-A69F-ADC16FF5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62237-B4AF-4E80-8152-2A0ACBE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0390B-494F-402A-A8C3-C464951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B1ADE-8722-45B5-910F-37F11F5A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B544B-F742-4F08-AD99-2359BA0F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6A60AE-F563-48B7-A350-0D3BDA66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DD674-2528-43DB-943F-55615D86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36CDB9-71DB-4AD5-90C0-9D00168A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40F736-B7E8-4DE9-9C84-3280DF90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057E8-7F42-43CF-9865-13ED2836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812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2A4D3-22AF-4AF2-8865-33D9EF64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看懂产品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A0B2E8-6572-41B4-8E17-FA997FA0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用户、任务、技能、文件、结果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774307-9DA6-4949-9255-C3F60E5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0789C-64D1-48F2-95ED-428F2BD0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6904A-C23A-4848-A58C-AC48A19E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812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4F35DA-3206-469A-BD74-D20EFC45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抓住主链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558B8F-C0C6-478A-AF16-87C161FB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19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问题 → 材料 → 计划 → 计算 → 交付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7ECDCB-F281-42E4-8BF8-8B59A3D9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0FFD55-C3CB-4220-8A8D-4998ED0B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B53491-30C4-4B81-8723-9F60AACD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812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C7D05C-5F84-4EED-84EE-1FBDE0C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补上缺口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E4ECDD-C415-4A2F-8E29-02721090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证据、审批、状态、失败恢复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131A66-E48D-42FC-B07D-8D9C988D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A24D31-E85E-4A8E-92FD-EC292574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C79F60-6CD0-4B4C-B0A8-392FD4C2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落到代码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277607-4CFF-4975-9DA1-47B271E8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19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组件合同、API 契约、验收脚本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FBD3D5-5645-4A07-8B79-22434E30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407C82-C424-46C7-99F1-9AD0FF1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815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取舍原则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BAD655-578E-4E18-9865-8DAE6D5F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149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只让有证据的能力进入“真实”叙事，其他能力明确标记 Adapter。</a:t>
            </a:r>
          </a:p>
        </p:txBody>
      </p:sp>
    </p:spTree>
    <p:extLst>
      <p:ext uri="{BB962C8B-B14F-4D97-AF65-F5344CB8AC3E}">
        <p14:creationId xmlns:p14="http://schemas.microsoft.com/office/powerpoint/2010/main" val="20410978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BFB3B6-7CF6-44B3-A9B2-E4B0291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04  产品取舍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ED642-222B-4CAF-80C2-9AC9022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时间有限时，优先保证主流程真的能跑通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A5794-FFAE-4894-8BD9-CA03AFC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把功能分成已落地、可替换 Adapter 和生产下一步，面试官能快速判断完成度与边界。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C975F-6ECD-4A3D-B8C5-F4199640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C5EA6-5DC4-414B-AE60-87DC78BC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D88A4-4A23-4715-99E0-B29FAC19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4E4FB-B8A0-4301-93A9-984280F1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8BEFF-A6D8-4753-9789-26EB3DF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F4EA4-0AE6-4F07-A576-D3F530C4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42150-CF58-4719-B06D-E8458376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1E5B4-87F9-4B53-81C4-089CD1E3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1602D-7796-4D90-A661-CD8473A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82C23-4897-4C0A-9C9B-95501191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45AC7-8285-4E52-8013-B6C82495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107A3-F83B-4FB5-B1B1-666ED948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B9F8A-59B8-45E1-92DC-4C280FFD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55FC5-6639-400C-9F9F-CECCC034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79464-9297-4A0E-9D16-79C05281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A8281-480F-47E2-826B-5E55136F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29A89-CDC9-4815-A20E-1B39C9D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75403-F44A-4FDB-8BF6-3DD31BE6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09E43-4391-4FB9-8718-6C3EDCF8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F9A28-7460-4481-AD4B-F09F643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8241D-065C-4A30-9515-DB02EC6F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DADDE-C439-4503-AAD5-FC9B1909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4DAF3-1114-4BD0-AFB0-5ED6D0F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BA6084-7CA4-498B-86D3-E2EC3CC8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9A437-A6C8-45C5-89BF-9B4D0C4C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857500" cy="3333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EC89B-3E0C-43CB-A333-EA265E22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819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B204F-6F3A-4589-9BDB-83F6628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D585C-AE83-47F0-9F04-27338671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FA643-3AEE-4D27-A118-3DDDE05B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FastEmbed + Qdrant 检索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B44548-7837-431C-B659-63376DEC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DEE0F3-9BF2-43C3-A75A-99E20B27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Bearer + RBAC 鉴权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CF1204-C3EA-4338-87BE-CADB6419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43043D-3709-46F5-AB5D-6329C5C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PyDESeq2 异步计算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C90C6B-656A-4946-8A16-6C98FC20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5B8C35-0705-45A8-AEDE-DE78D473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计划与计算 SSE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FC6382-F28C-4CB0-8251-E4B7F95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2857500" cy="3333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9525">
            <a:solidFill>
              <a:srgbClr val="E4EC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79681F-777D-4475-AE49-17881DAB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819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A2846F-1DAA-4953-BA94-149F336F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10442A-82CC-4DC2-811B-FD2D4F92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485B3E-AA49-4EDD-B0EB-B23F7CDB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未配置模型时的 OCR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7B759A-CD97-40F4-8290-1785915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BD464E-3F36-46A0-81CD-1C1D9845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轻量 3D 查看器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55256-7F35-4ED3-8678-381D82D2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F57EE3-7E3A-4BF9-8DCD-7779B507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知识图谱关系视图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802D19-ABDC-4D53-843A-7D469D8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B59299-6ECB-4B94-9030-2BF2B958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86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非 RNA-seq 专用执行器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5DC810-ADF0-4FE4-90FF-9A4D5F8E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2857500" cy="3333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F7EE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3BD0B7-1FC8-4C41-A315-4F9C1E4A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71700"/>
            <a:ext cx="819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02357C-5807-40F2-AC86-F673A2F3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907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NEXT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80C97B-4032-4D07-B807-DC3DB988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537A9C-46BE-4893-A48B-544E3DE0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PostgreSQL 多租户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D08AE6-8ADD-423C-9828-FBD1CBE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6894E6-0664-400F-B6C6-A4858FA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对象存储与队列集群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4A3225-90B9-4FE9-BE32-EE90644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6ECBF5-1B85-4B1B-838A-C0CA9949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90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完整 Mol* 集成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E7050D-5746-4B2E-AAB9-2B548D46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7FF9EC-AAB7-4C77-A9B0-F034009F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86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生产级 OCR 与图谱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83BB7C-C786-4894-A246-CB2601F1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边界写进产品，而不是藏在演示话术里。</a:t>
            </a:r>
          </a:p>
        </p:txBody>
      </p:sp>
    </p:spTree>
    <p:extLst>
      <p:ext uri="{BB962C8B-B14F-4D97-AF65-F5344CB8AC3E}">
        <p14:creationId xmlns:p14="http://schemas.microsoft.com/office/powerpoint/2010/main" val="721863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A22D34-8A16-428F-82D1-CE9085C9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05  登录与角色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CB0A0-3C62-4903-9F19-B94BEE87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身份先于操作，角色决定工作区边界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6D89B-3860-4216-8418-7BA4AD8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同一入口承载研究员、审阅者和管理员，角色选择与账号实际角色必须一致。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65CC5-FA65-4F7E-A24D-2A56120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D039F-F2CD-4AF5-B838-DF2E5026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77B09-E53F-4F19-BAA5-BC92F13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2DC89-D6DC-4B43-9ED1-8F4F8A18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FD72-4940-4D01-A78B-A0EC7F16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5FA50-AD43-46BF-90D0-0513CB16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4FE2E-757C-48C8-81AB-5CBE30A0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35861-A1A2-4598-9290-723C3200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FB6C0-B53A-4DB3-A34E-0B49E877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A1BB0-7EE9-4585-92BF-B4FBE7CA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5EE16-7DEE-402A-BCAA-3C97D24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BE6EB-43E6-4FC9-BBD4-115F7324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85C1E-1524-4F9D-9778-377E5E49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13A92-E878-4F67-960F-8989654C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8C041-F963-41D4-A80A-4237CD36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C46B8-4EA4-473F-8FA2-5065C58A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4436C-3935-45EA-9870-F93FBFF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E1363-D7E0-4088-9E9A-9F53DFB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FBB2E-6235-4B90-ADE4-A34DE3BE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29DCF-1608-4539-AEA9-E55A4E01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C02BFE-B262-4FFC-8BFB-EF4717E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C3C94-5663-4B0A-AA51-ADF701C4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04FD6-A5B4-4F39-8EB1-346CAEDB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ADF86-F271-4546-B9C2-8DFDAE0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5334649d44599"/>
          <a:srcRect xmlns:a="http://schemas.openxmlformats.org/drawingml/2006/main" l="0" t="2813" r="0" b="2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28800"/>
            <a:ext cx="6076950" cy="3638550"/>
          </a:xfrm>
          <a:prstGeom xmlns:a="http://schemas.openxmlformats.org/drawingml/2006/main" prst="roundRect">
            <a:avLst>
              <a:gd name="adj" fmla="val 3665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D4BD39-BD2E-4FF7-A1ED-0D17F29D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4476750" cy="3638550"/>
          </a:xfrm>
          <a:prstGeom xmlns:a="http://schemas.openxmlformats.org/drawingml/2006/main" prst="roundRect">
            <a:avLst>
              <a:gd name="adj" fmla="val 36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2D096-93B7-4808-AC46-4133287B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RBAC CONTRACT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B9D4F-415E-4AB1-BCF8-2734757A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6C4CB1-8A83-427A-901F-F444DB35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研究员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00125F-FCD9-40DA-A6A1-90D5A0C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可创建、检索、审批和执行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168271-CA23-4A10-AE37-FCE23E7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71825"/>
            <a:ext cx="375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127374-FCE5-4DB0-8DA8-4457D47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787695-9D29-4CA9-A791-04399C60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审阅者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274DC5-5CD0-4645-A9DF-21359D8F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只读研究内容，可写审阅意见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B6B2B0-4ABF-4357-9F1E-16916814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52875"/>
            <a:ext cx="375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DDB0E2-FF2A-411C-8DC8-5D85EA2D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E12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064D16-50CE-4ED6-AF9E-B72DC71F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00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D4630B-52E2-464B-80F7-EE9E9220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291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用户、角色与权限管理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5F74F5-35E1-4AB7-A2B3-34C30F63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33950"/>
            <a:ext cx="2266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7E4"/>
          </a:solidFill>
          <a:ln xmlns:a="http://schemas.openxmlformats.org/drawingml/2006/main" w="9525">
            <a:solidFill>
              <a:srgbClr val="F7E7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B12504-3BE0-41E2-95A8-E6C0F065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530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rPr>
              <a:t>ROLE_MISMATCH → 拒绝登录</a:t>
            </a:r>
          </a:p>
        </p:txBody>
      </p:sp>
    </p:spTree>
    <p:extLst>
      <p:ext uri="{BB962C8B-B14F-4D97-AF65-F5344CB8AC3E}">
        <p14:creationId xmlns:p14="http://schemas.microsoft.com/office/powerpoint/2010/main" val="237865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2A983C-4E07-4EC1-BD40-75BA719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06  管理与权限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3CAB0-0FB3-45C6-B25E-52427209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权限中心把角色差异变成可操作的控制面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A2C06-D169-4C0D-8F00-78D4B582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管理员能够新增用户、分配角色、细调原子权限并停用账号，变更会影响后续请求。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93CED-6153-4D30-97B1-6B026321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71CA-29F1-4832-9F19-38168699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9C749-EA9B-4814-A8E6-E0B71141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B661B-6BBD-430C-AA10-5D5CA4EF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F2EDE-6E31-4C18-8734-DD967908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742F0-E309-4EAC-94E5-2B58BA4B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DD252-F5B2-4A1C-941F-1B396695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D0E4D-23FD-4655-BD17-1BE073E6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EFBE0-FB4D-4105-A9FD-F442EA7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D74B6-D713-4E0B-B40E-1BCAFBA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2218F-F029-4D48-871E-4D527821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F4424-3D0F-43CB-84B1-2B291A00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2F51C-0E48-4CE5-92BC-BD23A66B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66053-D3AC-4960-BE1D-545511B9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000FE-C495-4485-BCBA-AD84F8C6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C2551-4205-4725-A5D0-73CD039B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646A8-5537-40D5-99EF-0CD6F7DC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A3C2B-A0DC-44B2-9A0C-886D9363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D234D-8193-4EDD-9BF7-AA66DA93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27725-FC1C-4B31-829C-D42E60C0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D1A79-B814-467F-A12C-EDB845B1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8C5E3-D2A7-48F8-8CF9-E9CE208A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D135F-4EE3-46FF-A51D-ADC2B490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83AC3-5AE6-4873-98EF-212E9B8F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4796695d84f82"/>
          <a:srcRect xmlns:a="http://schemas.openxmlformats.org/drawingml/2006/main" l="0" t="6335" r="0" b="63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7048500" cy="3905250"/>
          </a:xfrm>
          <a:prstGeom xmlns:a="http://schemas.openxmlformats.org/drawingml/2006/main" prst="roundRect">
            <a:avLst>
              <a:gd name="adj" fmla="val 3415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B1F0F6-93FE-4C49-A810-F52E9408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505200" cy="390525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5CDAC-C327-4CF1-BFE4-AD25C2B3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DFF337"/>
                </a:solidFill>
                <a:latin typeface="Menlo"/>
                <a:ea typeface="Menlo"/>
                <a:cs typeface="Menlo"/>
              </a:defRPr>
            </a:pPr>
            <a:r>
              <a:rPr sz="4800" b="1" i="0">
                <a:solidFill>
                  <a:srgbClr val="DFF337"/>
                </a:solidFill>
                <a:latin typeface="Menlo"/>
                <a:ea typeface="Menlo"/>
                <a:cs typeface="Menlo"/>
              </a:rPr>
              <a:t>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D25F0F-DAD1-43AE-A7D6-52548ACF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原子权限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BA5F72-0CDE-4268-83AA-16B7CC3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A6C6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68730C-FC66-494A-940F-02FD9F98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1524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4640"/>
          </a:solidFill>
          <a:ln xmlns:a="http://schemas.openxmlformats.org/drawingml/2006/main" w="9525">
            <a:solidFill>
              <a:srgbClr val="31464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7A3E3-3B65-4956-B100-503FCC38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671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tasks:read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680BE6-49EA-45B6-9D68-FBEA5131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8100"/>
            <a:ext cx="1524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4640"/>
          </a:solidFill>
          <a:ln xmlns:a="http://schemas.openxmlformats.org/drawingml/2006/main" w="9525">
            <a:solidFill>
              <a:srgbClr val="31464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0524EA-A497-47D2-BE9D-8D51DD44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files:write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337C94-0D54-438A-8335-5AD781B2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1524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4640"/>
          </a:solidFill>
          <a:ln xmlns:a="http://schemas.openxmlformats.org/drawingml/2006/main" w="9525">
            <a:solidFill>
              <a:srgbClr val="31464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FF7D36-2394-498C-A014-7AEAD71F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672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runs:execute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7DA389-B6AB-48D9-BFAA-4EF309A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48200"/>
            <a:ext cx="1524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03AD32-E5C7-49AC-9471-8C93A0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672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users:manage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B59560-F55A-4346-BFCD-7750161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38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rPr>
              <a:t>管理员可见，研究员不可见。</a:t>
            </a:r>
          </a:p>
        </p:txBody>
      </p:sp>
    </p:spTree>
    <p:extLst>
      <p:ext uri="{BB962C8B-B14F-4D97-AF65-F5344CB8AC3E}">
        <p14:creationId xmlns:p14="http://schemas.microsoft.com/office/powerpoint/2010/main" val="1885451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ACC056-C5B4-410F-A0C4-C552DBC5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07  新人上手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1880A-41E9-4161-A00D-4FFFB24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首次登录就能知道下一步做什么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D4116-158C-48BD-AF01-7B15AE6A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操作指引把产品教学、面试演示和亮点发现合并成一条低认知负担路径。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B9974-C11A-48FF-97AB-614DF93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2A2F6-15E7-4F13-BA7D-3089455A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4C6A4-754A-44FC-B764-246AD41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F5B47-831D-49AA-B23B-D7ECF44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21F31-0DBB-468D-8AE7-A182495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B9CD1-CC0F-44D9-A882-DE62522E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50851-312E-4E74-96B9-1FD6833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C1598-EA89-435A-B057-B94CD16C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549DA-FEAD-48B8-B1B7-5123E6C4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25E6B-5405-46B3-82E6-4F81550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46C03-ED98-4BE0-8189-516554D9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43F41-8F41-4F8B-BD84-9629A11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0F596-A573-4590-AD00-24A321A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40F8C-85E5-4AA7-8DF1-C94C5D48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240C8-ACD0-4F11-86F4-09F4566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701EC-C915-437A-A8FB-B0C0FC2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C24A9-BE07-4DB6-8302-9E55C651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B9624-3970-4100-8753-0953F61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34CD0-C9E4-41BD-8778-F874A4D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06BEE-46E8-4CE1-B6D2-E79D790A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09F78-C08C-465F-AD0A-5AA91CE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FBE0E-AFB8-42B4-9DAF-40A85CFD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647287-A6C6-41B5-AC0D-C37778FB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1D0F6-66E9-44D6-A045-C49423C5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ef7dc83d440c9"/>
          <a:srcRect xmlns:a="http://schemas.openxmlformats.org/drawingml/2006/main" l="0" t="4361" r="0" b="4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6743700" cy="3905250"/>
          </a:xfrm>
          <a:prstGeom xmlns:a="http://schemas.openxmlformats.org/drawingml/2006/main" prst="roundRect">
            <a:avLst>
              <a:gd name="adj" fmla="val 3415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6D78D-8E4E-46B5-8C0D-A6DF3EC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CED5B-7870-4531-9055-F80E332B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966FFB-68DA-49DF-A919-9C69266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选择角色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39EC4-5EE7-42BE-ABC6-E99B02DF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14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研究员账号默认填充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59782E-ED65-4EEC-B67E-D3198545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2C6D2B-1ACE-4AE6-9DBD-63795753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62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76FC3-2729-4689-8F9D-4FDBAFD8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打开亮点实例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C1072F-E5DB-4C7D-B922-A593E32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194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从真实 SSE 或 RAG 开始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CCC5C6-4BC5-44CE-90D7-158F82BC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23EDD7-8D92-4A6C-8DFF-15826BF8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08B87-EFC2-4FFA-ACA5-10372AD3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回到任务链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F05E14-E80C-48AD-ADEF-AB33907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材料、计划、结果都可追踪</a:t>
            </a:r>
          </a:p>
        </p:txBody>
      </p:sp>
    </p:spTree>
    <p:extLst>
      <p:ext uri="{BB962C8B-B14F-4D97-AF65-F5344CB8AC3E}">
        <p14:creationId xmlns:p14="http://schemas.microsoft.com/office/powerpoint/2010/main" val="1703820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B4E212-D486-46C1-B765-B45C4931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08  核心工作流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0FBE5-466A-432D-9799-46BDE447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从科研问题到结果交付，只有一条主路径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DF7CB-C364-43CD-89EF-FC98D134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后续所有页面都回答这条线上一个具体问题：材料在哪里，依据是什么，下一步能否复现。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DE33F-3FE9-4033-8287-FDC6926F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88093-E1FE-41EB-B892-B84D58AE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26948-C415-4875-A8F8-A7E36CCD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BF121-8755-490F-A356-6CE427A8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7D3E6-57D1-4924-8E77-1C9BA9E7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12067-FDD7-4257-8382-447B947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3A823-7CC5-4B85-BBEE-89D257D7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370AB-440F-487E-A5FF-EEA13DD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BDFD6-238C-4679-A53B-658F4E2B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C21D2-F80D-4541-B86C-8B5FB45D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CF066-2B51-4421-981C-FBA86282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E1422-01F5-4584-9F56-E5A7B426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4D517-C6C5-4773-8506-E43A18A7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6F5A9-9386-4AD8-8D61-627B61C7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3C7A1-5716-4264-BA09-893A20EB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06D3B-0D66-4687-9230-9C77E7C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935EE-2581-4C7A-9139-F59D096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E279F-4EE4-4772-AA7C-8520639E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C3440-63B2-4C8E-9F47-144F8BFE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78121-2A48-4A2E-A048-817B203C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9115B-3011-427C-B5C6-464BCC0A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76D1C-B7B7-4C11-AB06-385D10D8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67E8E-7A73-4A0D-B860-CFE569D2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E225E-0AC4-417E-BC06-C3C8E93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891A0-083B-454D-A4B7-5F4BB8A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97922-EB35-4FAA-B3EE-D79C726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AC47A-39B6-439B-BBF7-35611BE1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051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583D2-924A-4945-904E-B62E01AC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4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登录与角色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456453-2B80-4AB6-8C56-9FA433D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9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谁能做什么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CBFCB-6620-4373-A0BF-DB379A97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62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260567-C305-46D4-B7AA-60989784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6FB0D8-10B7-491D-A9A1-5B847260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051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2A3A39-1EA7-4DFB-B1F2-56298183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14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材料进入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288157-61DA-4634-A4F6-45D85A73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09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文件是否可读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E430D9-61A7-4718-AD6D-E92A8A4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988396-DA8E-4833-A4E3-0554FFF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00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9DFDE9-CD83-4E7D-8CDF-2255635B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051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84ED72-AB85-46C5-BECA-ABC2557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14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解析与 RAG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ECFC70-19A3-44AD-9FB7-A20134A7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09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回答来自哪里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7C01AA-048E-4E25-87E0-4BA8D851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62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40C894-DCB2-4AA3-B0D7-E15A5321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00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EDF62E-B29D-4A6E-BCE8-F4541B49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051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52209C-371F-425F-A1C7-5ABB1FD3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Agent 计划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61312-C8E9-45B9-9CBB-D56FCB53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09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计划是否合理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82EFC4-DF71-4CF8-9031-A3F7ABC8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A38F0C-A11D-4BAB-AA47-2B0791F7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0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1D7470-89C5-4386-BCEC-5C0F8F81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051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FCD3AB-5D8E-40FA-8A3F-5F083269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14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审批与执行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23A136-7045-4E67-BF56-6E3BDDAB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9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任务现在到哪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6BEF3B-D475-4BAC-BCF0-FB1AF928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62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4F619B-8C79-47DE-88AF-0D92FEC6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00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4084F3-BD7E-446D-8862-AC68B4CB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7147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结果与血缘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46E8AA-6327-4121-A715-828AE7A9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09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如何回到输入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484FBD-A20B-4BB5-8CE9-E6CC8F35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8953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91B4E3-D196-421A-B62E-B96AF43C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72075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任何一步都可以停下来核对、修改、重试或回到来源。</a:t>
            </a:r>
          </a:p>
        </p:txBody>
      </p:sp>
    </p:spTree>
    <p:extLst>
      <p:ext uri="{BB962C8B-B14F-4D97-AF65-F5344CB8AC3E}">
        <p14:creationId xmlns:p14="http://schemas.microsoft.com/office/powerpoint/2010/main" val="659279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A44D3D-BBAE-496C-8313-B3BA3A2E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09  多格式材料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63118-8157-4975-AC26-9E199235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上传不是终点，格式决定解析策略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35F70-A88C-4F91-A37D-CC77A67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对 CSV、XLSX、DOCX、PDF、图片和文本采用策略路由，保留定位信息和解析边界。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FFFA3-E5A1-41AF-A61F-443C544A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33FEE-5301-436D-AD8A-2F3BF352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22D2A-D060-414B-B52D-784BAF4C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35892-6889-44F2-A32E-DF64793E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BA666-42ED-4A77-8C37-0E109D40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72E08-C9CD-4670-AC71-8C4F8C66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9A35E-E39E-48DE-A7BB-FBA610DD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2A0E5-0590-40FB-A8D9-9BB25DAB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1D832-C186-4A83-BE34-244C0F7B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F074-4772-4725-9104-EE3B1388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5BB99-73B3-4D21-B1D0-3E7BD4F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E2C57-1ABF-49E0-B5B9-C4FF5802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4AE16-721C-42E8-9463-7651A855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D8549-C436-4CDD-8224-32411EEF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5CB4C-2247-499B-823B-0616F4D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A3D01-3ABE-4B36-9308-DFEDD09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D1B66-BC83-4DEF-9F3D-D4F4064F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641CB-F02E-4725-BED6-9E898F3C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D275A-B336-41C7-B50A-E0933841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B669B-A6C2-4C79-AD32-095CAC36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FE296-7F37-4559-914D-4A6B1198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E9ADB-2728-4E96-8D1C-F44DFE0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A99264-DAD6-4D9C-9FF7-CF2CBF24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734EC6-A2C8-4EA4-B48D-F4A0CDBE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0369E-F10A-4147-AA1C-6F0BCB4F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952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6DB5EB-1A9B-4633-952F-41207826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82D20-49E7-4BAF-80D9-25FEDD8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CSV / TSV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DBC5C4-D413-450B-9927-99828975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结构画像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E0BBB0-8B55-4979-83B6-14E1092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保留来源定位与结构边界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088EDF-345F-4046-B691-841A0092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38350"/>
            <a:ext cx="1952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6C356-E733-40A6-9FDE-941866CE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4790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A95D0E-F4AA-4F2F-AE8D-ACADD8AE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669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XLSX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8C1DBF-3B8E-4B0A-9F87-B2DDE280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384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工作表与单元格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4EC8E2-75C9-435B-BE87-A6BEECD8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保留来源定位与结构边界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A819BB-77D9-4CD3-86C5-DE1A1F78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38350"/>
            <a:ext cx="1952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6C28FF-CFB2-4303-801C-BD79DE5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790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3BCF43-7143-44E5-A32E-F8989A1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DOCX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AFA6B6-DB0F-4CC0-A9A1-FCD267F5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rPr>
              <a:t>段落与表格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D79F0C-2DC9-43C4-B364-581745FC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保留来源定位与结构边界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327246-9A25-4E2A-98BE-65B6F80A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38350"/>
            <a:ext cx="1952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8546B8-D688-47C9-9D09-19701453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4790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560577-6E2B-46F9-A7C9-2470574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669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PDF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62EEC2-24BC-4733-A7FD-B62DB894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384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rPr>
              <a:t>按页提取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C8393C-F0FF-463B-A6A6-5D7DCA3B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保留来源定位与结构边界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DE7732-B2F6-46E9-AC72-A4068A8C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38350"/>
            <a:ext cx="1952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B7C9BB-A73D-4FFF-BD04-600A8F18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4790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67CAC9-1B75-4C2F-98F8-A9897933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PNG / JPG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0337FF-960C-4184-BCB4-09A0E7D9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384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B8E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7B8E12"/>
                </a:solidFill>
                <a:latin typeface="PingFang SC"/>
                <a:ea typeface="PingFang SC"/>
                <a:cs typeface="PingFang SC"/>
              </a:rPr>
              <a:t>视觉 OCR Adapter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A54FC7-C6EC-44F4-A50F-7AE30E5B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未配置模型时返回 needs_ocr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F3CFAB-B9F0-4177-89ED-60C96046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908742-47C3-40D3-8137-F94E1047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F9EA54-F5AB-4514-802F-369C9995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482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识别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35ADDA-B7D6-4193-B7A7-C53F0DBB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14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0416B8-BCF7-4AF7-BAA0-A56D2397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清洗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2954C5-1245-4462-BD25-4C9A53E9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8C1062-9F73-48A3-A77E-F888F9A4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6482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分块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718F5B-EF50-4AF5-A94F-C26A622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14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3A644A-335E-4062-916D-67BFBD5E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索引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C0C4D9-4243-49AA-BD58-63321690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8950C2-B616-4D2D-B2DE-9BEAD36C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482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可预览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F568DB-528F-4009-9623-DD811C0E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原文件保存在对象目录，向量库只保存检索向量、片段和引用 Metadata。</a:t>
            </a:r>
          </a:p>
        </p:txBody>
      </p:sp>
    </p:spTree>
    <p:extLst>
      <p:ext uri="{BB962C8B-B14F-4D97-AF65-F5344CB8AC3E}">
        <p14:creationId xmlns:p14="http://schemas.microsoft.com/office/powerpoint/2010/main" val="852596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1F7933-52E4-47C1-A3AA-82494DC2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10  文件工作区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D9787-F7DC-4EF6-93D8-E0E1ABCE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文件预览同时服务核对与检索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69BDE-8EE9-4276-9073-108C1E42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列表、解析状态、原文预览和索引元数据放在同一工作区，减少用户在目录和任务之间来回跳转。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7C783-6D5C-408C-AC9C-AA88C5E3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9F187-D116-442B-82D6-B05C027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287F6-E51C-4561-9DFC-B88D7C01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0A767-D315-4C1C-9E58-6B5EEF98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54130-6BB8-4AF1-8A48-1EDF9DFE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5BB5F-3D28-451D-AEA7-DB0C38CA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B6035-D0A2-4CD3-B350-72727A26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25642-A569-47C4-AA3B-16BB73C9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EE7ED-2416-4CF5-89C0-B01358BB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2767B-0643-4405-B40D-A0ED29F6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E13F8-9AA3-48BA-BAC2-D5719E29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1E3B6-75F4-4CD0-92D2-1C488B15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F7FDD-1402-43BD-BB9C-C564CFD9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886CA-9AF5-44D7-87BA-4F8E8F53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59C7D-9357-4467-9F2E-C250C3FA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0072C-766A-4F93-9BCB-B43D1EEB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3ACA0-8041-45E4-B781-2BF8C2D3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11DDF-D7DF-4E18-96B3-A9751FD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91FBB-A5EC-4298-BCDE-DB465F93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A180F-E7CC-44AF-ABE4-4C3582C9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0682C-9814-458E-8D38-E9ADD9A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B49CD-9524-4ABA-980C-4200BE10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FBA72-A16D-4148-AA9E-7CA2B401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E2DF9-419F-4736-81FF-2701A1A0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e1c54a27c46fc"/>
          <a:srcRect xmlns:a="http://schemas.openxmlformats.org/drawingml/2006/main" l="0" t="21293" r="0" b="21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52600"/>
            <a:ext cx="11087100" cy="4038600"/>
          </a:xfrm>
          <a:prstGeom xmlns:a="http://schemas.openxmlformats.org/drawingml/2006/main" prst="roundRect">
            <a:avLst>
              <a:gd name="adj" fmla="val 3302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2ECBD7-A405-4B4F-99EE-7DC2B443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40386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17302C">
              <a:alpha val="6000"/>
            </a:srgbClr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C73EB-FF1C-4DBC-8712-946A16FF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4CD41-7264-4BAC-B537-6764D2C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预览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E0EFA7-ED82-4A26-B835-F5D5F60C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38350"/>
            <a:ext cx="800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073B7B-81BB-4E98-929B-AFDADEE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574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解析器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4D09A3-03DD-42AE-8A10-85318ADD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9525">
            <a:solidFill>
              <a:srgbClr val="E4EC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97F775-B375-45C8-95EA-5293A1E1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574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索引状态</a:t>
            </a:r>
          </a:p>
        </p:txBody>
      </p:sp>
    </p:spTree>
    <p:extLst>
      <p:ext uri="{BB962C8B-B14F-4D97-AF65-F5344CB8AC3E}">
        <p14:creationId xmlns:p14="http://schemas.microsoft.com/office/powerpoint/2010/main" val="2998092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4A3B1-3135-4DAB-A7AB-62E370DF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11  数据集预览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4150F-C7A9-4157-94BD-766D8173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工作台里的数据集与文件中心使用同一预览能力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26665-C30F-449C-8D1C-E626A17F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同一个文件对象在不同入口保持一致的内容、状态和操作，避免“入口弹窗”与真实数据脱节。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40217-66B3-4317-9CF6-08DF159E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668F3-BA20-422F-A4BD-40E6EA36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7D5CF-1811-47A2-9EB6-F58E6339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C2D07-8042-4F93-9F1B-04C87E4C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196CA-7142-4537-98C7-DE558ED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6C9E0-2905-465A-92AC-059AC84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81104-1802-4214-91A5-8EA5CEF9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675FB-AF8C-419D-8EE3-AA4A00A8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7DE59-4FF8-4978-90BE-B7E47F2D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EF7BC-B445-45BD-B97B-C1CECF5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55628-4D41-4AE7-9DE5-3D078F42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70BC1-43A5-4C81-8D14-61AF51C1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3D030-67B7-49B4-9FCC-9EAEE1D7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C91F2-F208-4D36-B03E-24193BC0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5822E-0C2D-4CC3-92D9-703F559D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15752-471F-4BA6-AA71-74300FC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6C007-1ED3-4D96-A4C1-9AC07433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67D9F-36FC-4183-8021-A05FDDE8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6690B-3762-42BA-B981-1423480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F6DEB-37C9-42F5-B76F-72FFCBDD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376AA-4F01-4F2A-AAD6-F9D96166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469F52-4EC6-4E0C-A16C-F6375A5C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18886-0BD3-4BC0-BAD0-6E85A66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EC24E-8F0E-4B73-BD35-89D9E4F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39ee531a94df0"/>
          <a:srcRect xmlns:a="http://schemas.openxmlformats.org/drawingml/2006/main" l="6320" t="0" r="63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28800"/>
            <a:ext cx="5010150" cy="3638550"/>
          </a:xfrm>
          <a:prstGeom xmlns:a="http://schemas.openxmlformats.org/drawingml/2006/main" prst="roundRect">
            <a:avLst>
              <a:gd name="adj" fmla="val 3665"/>
            </a:avLst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02d75d8784345"/>
          <a:srcRect xmlns:a="http://schemas.openxmlformats.org/drawingml/2006/main" l="839" t="0" r="8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828800"/>
            <a:ext cx="5638800" cy="3638550"/>
          </a:xfrm>
          <a:prstGeom xmlns:a="http://schemas.openxmlformats.org/drawingml/2006/main" prst="roundRect">
            <a:avLst>
              <a:gd name="adj" fmla="val 3665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832CB-A061-451B-AD86-716E2421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D766D-9DF8-4288-BA18-362979A3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工作台数据集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8A055C-12FE-4CDD-AC28-787EFDB0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058C6-67C6-4A88-AF36-79AAA1C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38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文件中心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FEA6E-D589-4738-9972-7E0B7CEA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293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同一 fileId  ·  同一解析结果  ·  同一删除保护规则</a:t>
            </a:r>
          </a:p>
        </p:txBody>
      </p:sp>
    </p:spTree>
    <p:extLst>
      <p:ext uri="{BB962C8B-B14F-4D97-AF65-F5344CB8AC3E}">
        <p14:creationId xmlns:p14="http://schemas.microsoft.com/office/powerpoint/2010/main" val="3658461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49AAD6-9BFE-4D82-9CA9-42D5831F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12  RAG 全链路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4636E-54B8-41BB-90CB-06EB87B2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证据流水线是智能体的可视化骨架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D4C74-D42F-4132-969D-985590B3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检索不是一个黑盒按钮，而是一组可展开、可解释、可回到原文的阶段。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F874C-F9DE-487E-87E9-44FF63C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E0B17-F33F-4334-A57D-43313213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18610-0F35-49E3-AD68-C412A6A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DBD48-058D-4463-93A4-CA85551F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A30CE-D316-45F4-AE9D-F7A15EF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31842-EB90-4625-BA4F-835B5F3E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5DD68-1FB3-46E1-9905-D621BAED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B9D1C-0AC6-4FFE-8EBC-7198A3D3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A5787-2CC9-410C-98FF-65B1DFB8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073D2-846F-4680-A708-8B5D01D4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2E763-F9FC-4249-BE92-A70CD5D1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384D6-BBC8-40CA-9066-08D4587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CB124-8466-413A-A94E-DE30159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0D465-AB73-48C1-BBBF-4982364A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D4567-6197-487F-889E-D8100768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9CC43-B3E5-4169-A703-3FC0E0D8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52B51-892A-4F1D-8AF5-A89C690E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F4EC4-A09D-4441-AE06-71F7C55B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9CBAA-6295-458C-8477-EE2575F2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87D68-B2F5-4F24-A728-89B61B3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109D8-C103-4FDC-B85E-8F2904E3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1B43A-404D-4682-A8F2-3F12D54A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88160-DE19-4948-9553-A4D2B704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2F940-CA0B-4772-9A9F-0F97FCCB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707752-184E-4571-9932-D282BB1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E342C-9003-4870-A114-F87A2BD8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0E0B3-7571-481A-8929-7742D341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622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FE093C-74CB-40C8-B80E-A74A94DE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意图识别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B882E-8BCA-442C-A96D-86234006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623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问题 → 分析意图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C0CD5D-E19A-4D46-A21C-A24F0CD7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C50165-75E3-4E6F-9024-86C5BCA2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765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F5BC8B-E2D7-4965-9772-0D5332C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2A399B-4CCB-4CE2-889A-3EC95867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62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混合召回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83D33F-BB28-4126-8F4B-F511E9E1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623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Qdrant cosine + BM25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8F128C-9289-4ACD-9D33-D2D05AFB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83E573-4A37-4E02-8EEE-9CB4DDCE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D9C893-9DAF-4938-8D24-4522D96B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622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EC5C97-764A-4575-AC41-A5BB642E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RRF 重排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47F064-A947-4D90-BB8A-8150AAA9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融合排名与置信度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B33EF2-7784-4938-A1B1-DBD3865D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CC317F-238F-4B67-B80C-312FB3DD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6DF8CB-B0BC-4ED7-9483-779B18A5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7F325C-7AE8-4FB7-9B39-F41CFD9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参数绑定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123C28-0B4D-4C47-BCEC-9D9A492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物种、分组、FDR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6B2663-AD99-4A68-B3B9-6FB7084B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7D2016-39C6-4AAB-B23C-239D9EB2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7DE57E-79E6-466C-BFA7-BEB7C851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Trace 留痕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A9466C-C7C2-44C6-AF5E-9254A90D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来源、页码、片段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30005E-1F60-4B43-B357-D52F4B00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0058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8CA854-687E-45E5-8C45-E4F8C1B8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交互亮点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C4B540-1ADE-4A8F-9C62-EC2C8C21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81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点击任一步，检查器展示来源、命中片段、分数与最终参数。</a:t>
            </a:r>
          </a:p>
        </p:txBody>
      </p:sp>
    </p:spTree>
    <p:extLst>
      <p:ext uri="{BB962C8B-B14F-4D97-AF65-F5344CB8AC3E}">
        <p14:creationId xmlns:p14="http://schemas.microsoft.com/office/powerpoint/2010/main" val="1927593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D24699-DDA8-426A-8ED8-6EAEA285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13  对话与模型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63800-333F-4BB6-8EE8-9043E3EF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回答先有证据，再有自然语言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365DD-BA4F-4936-A680-30DB8D8B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对话不再拼固定模板：服务端先检索项目上下文，再调用 OpenAI-compatible 模型生成答复并保存 Trace。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D0113-C017-41EC-8EFE-3B77BE16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BE595-D814-4D10-8FC2-E571BCA9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41DF5-27A0-443F-A82F-6B72E386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A0694-C457-4DAE-85BD-A2E8A240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217A5-B614-4397-8967-448EEA62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747DC-1C7A-41E0-977D-7DF0B8E0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4973B-220C-4714-865B-C3E50EBE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0371B-4A63-4DB9-8219-9069D47E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51766-801B-45DA-A645-EEA47780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66AC4-D5DC-4AE6-8004-B2779C94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38128-6B03-4C6F-9B18-31825698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E3362-32DC-4DF9-BB3F-E91D9EB9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DD481-2CAD-4758-8C99-5D23F75C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52BAA-1B22-49C7-A176-AFDB0E25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D3734-17D8-498C-BC0E-59EDAF36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7FE7E-FD1A-4109-9F4A-52B0FB5A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9E96F-C413-4D81-B357-3FC43616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4915F-F543-4E01-AEF1-F2EEEFF0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E8AED-A6E4-4DC6-8B7C-97E1C95A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E97E9-D8B3-43E6-BF14-82811F6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661E2-1ED9-4B9C-907E-57DE439E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933F3-4A30-46AF-B867-513FA8AA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B91F89-01C1-47F8-AF04-EE5424E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D2EF5-8C4F-44F2-9BE5-C7276098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30A09-6E82-479D-ADF6-2FB68E87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45720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A6C374-416C-463F-BF94-D4A8C6BE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F78B9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4F78B9"/>
                </a:solidFill>
                <a:latin typeface="Menlo"/>
                <a:ea typeface="Menlo"/>
                <a:cs typeface="Menlo"/>
              </a:rPr>
              <a:t>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EBC94-50C2-4261-9871-BBAF9D9A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比较处理组与对照组，</a:t>
            </a:r>
          </a:p>
          <a:p xmlns:a="http://schemas.openxmlformats.org/drawingml/2006/main">
            <a:pPr algn="l">
              <a:defRPr sz="21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识别候选差异基因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D6A2B7-0142-487B-8EDE-C7B411F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9525">
            <a:solidFill>
              <a:srgbClr val="E4ECF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6BC45-B498-405A-8DF1-4B2609AA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Count 矩阵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31F0E0-75C1-4BFD-91B3-C144F262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38550"/>
            <a:ext cx="647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FEDCEF-35C2-48FD-A186-FA9CC993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57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人类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68CAFF-BFCF-4F2B-A06C-793AE4D2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F7EE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30473B-6D2C-4214-BDE8-413C1591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57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rPr>
              <a:t>FDR 0.05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F0A108-6413-40B1-A0CC-250B2BA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8CF176-8861-4666-AB47-9B73A858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000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833A04-9E2C-409B-BB71-DD81789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RAG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009838-5572-46EB-BDE4-DE2727BD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0507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Top 20 → RRF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251BD8-97FD-45D1-BC5A-B9477D55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2000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9525">
            <a:solidFill>
              <a:srgbClr val="E4EC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F59D20-DBE1-4137-B8F0-4F086525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480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LLM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D6319-0F61-40C3-9632-B4238614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4332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结构化计划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57B3EE-B8CD-4125-A4CB-463729A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CAEABC-0AEF-43C9-8381-6664B806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78B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64B0AC-F6B4-479C-A5B7-E8718088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38350"/>
            <a:ext cx="1809750" cy="23050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D54F72-BFBE-4F67-9030-F99D5EA2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431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BioFlow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72B4A7-E72F-44F9-B06D-5F5A1692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766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rPr>
              <a:t>来源引用</a:t>
            </a:r>
          </a:p>
          <a:p xmlns:a="http://schemas.openxmlformats.org/drawingml/2006/main">
            <a:pPr algn="ctr">
              <a:defRPr sz="127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rPr>
              <a:t>模型名</a:t>
            </a:r>
          </a:p>
          <a:p xmlns:a="http://schemas.openxmlformats.org/drawingml/2006/main">
            <a:pPr algn="ctr">
              <a:defRPr sz="127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rPr>
              <a:t>参数 grounding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89B691-1C23-4868-A840-65674565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482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自然语言答复 + 可点击证据</a:t>
            </a:r>
          </a:p>
        </p:txBody>
      </p:sp>
    </p:spTree>
    <p:extLst>
      <p:ext uri="{BB962C8B-B14F-4D97-AF65-F5344CB8AC3E}">
        <p14:creationId xmlns:p14="http://schemas.microsoft.com/office/powerpoint/2010/main" val="18113162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76197F-7FA5-4EBF-BADB-EFE68B0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14  AGENT 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B7AEC-D673-450D-A775-21A4661B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模式是研究意图，不是一个装饰开关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1EEC8-0B2A-4017-80D5-EBE4AD27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快速、标准、深度研究映射到真实的 reasoning effort，并随请求进入计划接口。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EAAD4-4B7C-41D0-969A-0CB04395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F581E-42BC-4371-9AD4-E09CAB45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7B89A-8DB5-4231-B2B9-A20F30C8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86EAA-6CEB-4DB0-AB70-491E9D26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45579-DCF9-4678-8BA9-44D0A3B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BBBBB-3AE1-4117-AF3F-5C548A8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DAB74-0692-4829-9D68-0D49DD02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91D5A-07F6-487B-9022-D5208D66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D04DF-754B-4F65-8AF5-179161F6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173E1-0FAD-4F78-9F21-0E87A4DA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F8A56-A68A-4F8E-AA81-1413C47D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263A8-4E0F-4A56-85E7-AE0CBD1D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0952D-D374-4974-9A85-9BE25645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DF385-12CA-4622-951A-04561A58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3264D-3CA2-4851-BC8C-42E2A69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65C74-0790-49BC-8318-83D45CFA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82525-F8E0-4AA4-A6CC-D3B29C02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FB984-229C-45CA-9997-4C19E05E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43477-4D60-42C0-99CE-45CCC982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2A2ED-7406-4206-8219-5D61BA9A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8454E-E853-4DEB-9D8D-D324DACB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0A472-E1D0-485E-99AF-849AE1CD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CAD87-FF6B-4768-98F4-61230D83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2848A-7ED2-4093-82C5-5A574827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4F1DD-06EA-4728-9A4E-CAB9D67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0480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0A0CF-456A-4752-8814-46433888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快速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4C0DCB-7222-48C6-9F0E-37F7AEC0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信息已齐，先要一个可执行草案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4A713-EDCC-42A8-B8C9-F9678F8B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A3F8B-DD69-4A8F-B6B1-DF2C811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reasoning: 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A4E21E-CFAB-424C-B1A1-5598E46A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0480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0A6D29-C370-487D-A1F5-E2CF7BD1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标准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F13702-B25D-4C50-88D1-A0F23D8D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常规项目，平衡速度与证据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D4A7F6-1420-4778-8131-759CB567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76650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1E063B-1222-410A-B16F-DE03E85C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957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reasoning: medium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0DEB7C-7F45-4B5E-8B29-91A061B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30480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95DB3-0C93-433B-8CC9-9AF61A0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深度研究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9799D0-4A98-4008-AF48-B5C11B72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证据复杂，需要更充分的核对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054303-927A-4BFB-B92C-C6D311B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A5BE70-B114-4763-8666-88AF6345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reasoning: high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517F9C-81DB-4000-A3D3-9740F9D4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8572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87025E-BD21-448E-B110-C454F97E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81575"/>
            <a:ext cx="784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UI 选择值  →  API executionMode / reasoning effort  →  模型请求</a:t>
            </a:r>
          </a:p>
        </p:txBody>
      </p:sp>
    </p:spTree>
    <p:extLst>
      <p:ext uri="{BB962C8B-B14F-4D97-AF65-F5344CB8AC3E}">
        <p14:creationId xmlns:p14="http://schemas.microsoft.com/office/powerpoint/2010/main" val="20261639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62CC69-1022-4DFD-A03B-A68E287A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15  计划 SSE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E036F-9F73-4983-AAE4-787F761A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生成计划时，用户能知道系统正在等什么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4E741-22EC-4160-84EC-050F1BE6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Fetch + ReadableStream 解析带 Authorization 的 SSE，事件逐条进入运行过程面板。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0C2D4-D7A0-45D5-B0F2-28605EFD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D0EE3-9C74-40EE-94B3-AB4754A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F8528-1540-4B92-B1BD-47F4B15D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612CA-1784-45C7-86D8-6C930312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74E9C-D065-4315-B58C-75909F6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914F5-292C-4C03-A855-595D6F09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59243-5BDD-48BD-B559-37EB4C7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D49BF-70D6-419B-B11A-1ACBA617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F3F72-00D1-4525-B9CB-8E229551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BB122-BE0D-42EA-9A32-96D4F2ED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06621-2642-4E30-9F22-47EA2170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BAB8D-E54A-445C-B41F-616CFAFB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E4927-A5A7-4741-8E92-55C7E763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77F1B-E196-4B86-A1C0-E79326FF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13BF1-105F-4CAF-9BF1-965807B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41A8E-91A6-4D11-98A8-BDA58EE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24F51-EC7C-4FEE-A342-6C8A431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94D15-11AB-42EE-B7FF-CCC64693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B6F65-E4D3-4F81-B822-180803C1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86D9E-15BB-46EF-A3D7-CDA1C9A8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86FAC-2C54-4C3F-962B-6BA284BC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7E49E-683D-403D-BB71-5E071016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76011-C491-4E6F-A5E1-99145CC4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1C7CF2-C061-4B77-917D-1A6B98AF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61358b95047aa"/>
          <a:srcRect xmlns:a="http://schemas.openxmlformats.org/drawingml/2006/main" l="0" t="20886" r="0" b="20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33550"/>
            <a:ext cx="110871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7BE57-0CFB-480A-8830-FAA56E0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0871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17302C">
              <a:alpha val="4000"/>
            </a:srgbClr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E3935E-425F-4F71-8ED9-90EEEF74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93CBF2-2129-4F56-9FF0-9DADF1E6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plan.started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641CD6-8CDA-4AF1-A6F4-F80263B1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F7EE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AF7735-4389-4360-B423-139494E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14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rPr>
              <a:t>plan.waiting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2B88F0-C296-43DB-85D8-DC636F1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C13A85-C283-457E-A048-34FA1DFD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plan.completed</a:t>
            </a:r>
          </a:p>
        </p:txBody>
      </p:sp>
    </p:spTree>
    <p:extLst>
      <p:ext uri="{BB962C8B-B14F-4D97-AF65-F5344CB8AC3E}">
        <p14:creationId xmlns:p14="http://schemas.microsoft.com/office/powerpoint/2010/main" val="20694187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F8C50B-1237-4057-B36E-FD3E945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16  人工审批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4440-3CE5-44DF-8DDE-CB282A92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高成本分析需要一个明确的责任交接点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8DCCA-D77A-41B6-B3D6-02DEAE23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Agent 负责整理证据和计划，研究员负责确认比较设计、物种、阈值和交付物。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CC17A-A96F-4FE8-A69B-A139EB87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CEE0D-28EE-410A-BA32-8902C396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D6E4C-4F6C-4A07-A99F-8C90502F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39002-3CD8-49F2-A62E-BAEDFAE6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EEE97-8205-4460-B7B3-7BD7955F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8259D-F646-4A3B-8462-E8757DE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C17D9-A28F-475B-BC0E-5C00BF17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35FE5-969D-422D-99CE-7B6E98A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DCD02-252B-47C9-99E1-1C167AAE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EE47A-6EC6-4F92-8847-B8BA9669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394F1-57A9-4DD4-A7FD-8B29965D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3DAA4-C771-462F-AEA6-142B0184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6A5F8-84E5-482C-AC81-142E4B6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2A015-0DAB-43C2-B0C0-A1F3E873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09C41-0049-4334-BD15-99AF3AC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434C7-DD0F-4B8E-8B5F-5512400E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03AA8-715B-43DC-9AC6-B89649A5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F0EFE-7678-466D-A6E8-BC11D0B2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B2C0C-2875-4B87-B098-05E1762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04A8C-D502-41FA-8D23-0121D696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F3870-7132-4234-ACE8-061601AF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E7574-6EDC-4CEC-9842-10F4A3A9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8A827-4D3D-4349-AB81-2025E767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7358C-9DDD-410E-ACFC-9AB8B9A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BF1CC-A966-4D13-B81D-B784A63D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2762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9D845D-B862-4DF5-89F8-FBB35E6C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B49F5-963E-47E7-B9D1-41F49BC4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06D81E-EFC0-4650-8B9D-6FD00558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43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数据格式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77FB8-1AF1-4101-94A8-D97C85A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2762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F04FD-9DBB-4552-8689-BDEC3559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6FE414-6520-49ED-9302-7211FE2B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E95442-C850-49AB-8C0A-B4A9FCFA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28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比较方案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41261E-6EA2-4938-91DC-C9DC6814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762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1CA894-80EA-497C-AD47-E1512C3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8B4363-0AFD-4B97-8189-5477070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FD83C-7B13-46BB-9214-FE873F9B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147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研究物种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7B6D5B-7CD5-404C-9871-08F1F2F1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7622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844EEC-9DA7-4D16-AC0E-2D0FCDF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C675F3-047F-40F2-B4FE-E1BD170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DAEE88-F04C-46F4-AB51-19E87CE6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00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交付物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B66400-F209-4D85-B74F-0E731FA7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F8D25D-4630-42C5-81F4-EB33A482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43100"/>
            <a:ext cx="53340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358FE1-9060-4F7D-84C3-79EE5D9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28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APPROVAL GATE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CBB6F7-12FF-40D7-A1C4-53059111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确认后才进入</a:t>
            </a:r>
          </a:p>
          <a:p xmlns:a="http://schemas.openxmlformats.org/drawingml/2006/main">
            <a:pPr algn="l">
              <a:defRPr sz="23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工作流与计算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31A259-9E57-433F-98F2-2CFB353B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38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未完成的字段保留为可处理状态，</a:t>
            </a:r>
          </a:p>
          <a:p xmlns:a="http://schemas.openxmlformats.org/drawingml/2006/main">
            <a:pPr algn="l">
              <a:defRPr sz="14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不会被默认值静默覆盖。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FB545D-CCD2-4135-9CBF-38C2C291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7680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D686EF-A509-41E5-B593-16EF8D55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958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批准计划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BB3461-A512-4FF7-B0C6-640D82FC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3E3BFE-772A-46D6-9D58-5ED3F603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958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返回修改</a:t>
            </a:r>
          </a:p>
        </p:txBody>
      </p:sp>
    </p:spTree>
    <p:extLst>
      <p:ext uri="{BB962C8B-B14F-4D97-AF65-F5344CB8AC3E}">
        <p14:creationId xmlns:p14="http://schemas.microsoft.com/office/powerpoint/2010/main" val="5345379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72CD00-BFDA-4644-B098-BED8E2A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17  运行过程画布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CFD96-2434-41F6-9426-AF0B46E3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运行过程既能看时间，也能看阶段关系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9B0B9-6A8C-4446-8502-8D7C44D1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时间线适合追问先后，画布适合定位节点依赖，两种视图共享同一事件数据。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19858-4F93-4650-9EB6-C869C3E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3796A-E2F9-4FAC-AA3A-EE30DA9D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93E3-9EAF-4B41-A489-A4ED8E44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4B06D-590B-4925-BB48-91FED51E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19DDC-1373-4AC6-8691-E17E023D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376BA-6A37-4282-8323-8B53BFA9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7F8A9-BFC3-4299-876F-F122E6B1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CC885-B1A0-4B59-BD6D-09626330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CA523-7D0A-4138-98A9-649124F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81E2C-1435-44A1-82AE-A62DE917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371BF-DABF-49C8-97A5-EC684765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2AED2-294E-4BA1-94FD-F05D28D6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0B808-2DF6-4BA6-9B8D-A23BA03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BE61F-81DD-4EB4-9243-543DF2A3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395EA-12AA-4432-9A98-D241DB6C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85A64-486F-4A5C-AF6E-F2A99C4E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90B46-18E3-482C-8741-83B9ADE5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ADC44-109C-45E1-8457-D7C7FA72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0FD32-0F2A-4FF2-A3DE-A4BD8A1F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24DDF-104C-41E8-B82E-A7416AF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385CE-83E0-4206-99A8-CFED8F6F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22F52-F3E6-485D-8473-B669FE0F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9D9780-6AC3-4BBC-A252-7E6EEA4F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5BEA7-69C7-4145-B075-F9B2BBF2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f6f5b11ee4099"/>
          <a:srcRect xmlns:a="http://schemas.openxmlformats.org/drawingml/2006/main" l="3637" t="0" r="36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5429250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336f741ff410a"/>
          <a:srcRect xmlns:a="http://schemas.openxmlformats.org/drawingml/2006/main" l="4451" t="0" r="44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1809750"/>
            <a:ext cx="5334000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72EC7-87CB-4453-8523-D30CA59F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A0CD84-CF87-4809-AB0F-2919768C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通路画布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FFB831-A91B-4D95-AEAE-8E6CC202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816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0D08F6-1687-438E-A1E6-E7C96C56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00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时间线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7FBDEF-FE27-47FA-8F91-B4242AA4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531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同一条 SSE 事件流 · 两种认知方式</a:t>
            </a:r>
          </a:p>
        </p:txBody>
      </p:sp>
    </p:spTree>
    <p:extLst>
      <p:ext uri="{BB962C8B-B14F-4D97-AF65-F5344CB8AC3E}">
        <p14:creationId xmlns:p14="http://schemas.microsoft.com/office/powerpoint/2010/main" val="4734138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140678-EECF-4D94-A9D0-D6E7340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18  工作流画布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9AE7B-60F3-4EB4-A29F-46E08543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画布让 Agent 计划变成可编辑资产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CF9DC-06CD-4123-8EAB-DB939556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节点负责动作，边负责依赖，布局 revision 负责刷新后的恢复与复盘。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C1313-07A5-427E-8D0A-FD2D6A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0CD68-0D76-4361-9FE0-3BE6AB64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C8191-B197-4E9D-86F6-B9AB8103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57A94-EC57-4518-AB69-F94B198D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424C0-C986-4718-9D1A-544D8EB6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EAAA8-57F0-4893-965C-CDA9AB7F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1CEF1-40EE-4D26-8792-5AB702D7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E42A2-5FBB-4789-B942-46CD6CEE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CDC8F-7F73-42B5-9CA3-25474E1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D2444-2B76-4196-B385-FE5A51DB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8BBC7-6ECD-4948-8368-786D852E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F4070-7117-412F-ACB8-DF0AC5EC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94EDA-227D-4DBA-9EA0-1DFF902E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65B7F-638D-4133-B9EC-93B9595F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A35AA-2B8F-4AE0-8A06-17842D9F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F2237-AF4F-4058-A599-DF7617F3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DAC5E-FF8A-44E5-8BA3-CC215FF1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347C0-898E-4BF2-88DB-428A8D18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B6144-E546-481A-A876-AB87A15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519D9-0B21-44DF-83E8-7F2E38F2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BCEBB-C1D3-4C2D-9F92-ADAD9064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CFCA5-5EB6-4CA9-9B58-DAF73B14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EB7239-2B8A-4B78-8C14-3CB6507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6A89A1-63B7-43D0-BDEB-0CF51EF3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cbe6605a04f44"/>
          <a:srcRect xmlns:a="http://schemas.openxmlformats.org/drawingml/2006/main" l="0" t="4205" r="0" b="4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14500"/>
            <a:ext cx="70485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68BEDC-6BCF-4FE3-907B-8D365DEF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524250" cy="4095750"/>
          </a:xfrm>
          <a:prstGeom xmlns:a="http://schemas.openxmlformats.org/drawingml/2006/main" prst="roundRect">
            <a:avLst>
              <a:gd name="adj" fmla="val 37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9E5D3-FEA8-4F79-8CBD-56F6E44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57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CANVAS CONTRACT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06933-A2E5-4B24-98AB-9F2AE0A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30EE48-B28C-43B6-8BA7-7A4C7CF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拖拽节点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E3D9EE-C3DB-4EAD-A31B-00E7EF8F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AFD89A-7CFB-4C3B-B7FD-30656F8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空白区平移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307EC4-11DD-451B-B742-1D8C6685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CB9AA-A336-4949-A3AD-96E4BC8C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480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滚轮缩放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F66D30-48B3-4C92-9D1D-1FE426B7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84E061-B603-4D63-A8A8-A2BAEE1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Shift + 点击连线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0FA3DF-0156-43E7-B5D0-958005C5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E12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AF1825-3ECC-4428-ADE7-69F6F8C3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624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保存命名版本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6E5AD5-3FA1-4D93-AEDB-9078227D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10150"/>
            <a:ext cx="1752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6233F7-2B46-492D-B281-9613DEF5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292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布局自动保存 · r63</a:t>
            </a:r>
          </a:p>
        </p:txBody>
      </p:sp>
    </p:spTree>
    <p:extLst>
      <p:ext uri="{BB962C8B-B14F-4D97-AF65-F5344CB8AC3E}">
        <p14:creationId xmlns:p14="http://schemas.microsoft.com/office/powerpoint/2010/main" val="8497265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3E1E4F-819B-4D3E-B16E-17913D7C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19  画布状态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3391E-7990-4FD2-9E4A-5B19D36A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业务状态与空间位置分离，刷新也能复原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76F7D-9D95-480A-A584-E8FC79B4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前端拖拽只改变 layout，服务端快照保存节点状态、边和 revision，避免把 UI 位置当成业务结果。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1CB26-5621-4DD2-94E9-1422153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8F63-EC5A-4653-9F2C-45FCFDFE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B9013-D3CA-4F9F-857F-DDD5C53A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DE31A-B0CB-4DAF-A5F2-CD035F4E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0930A-0523-4615-90EF-95D54436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B3580-DD51-4ECD-9A1C-CF587A64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67DF2-6698-49C1-9DED-D6B7F09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7A522-D14F-4007-BFBD-AAB65D6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8B002-2C03-442C-B57B-35DE203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EB5FA-C83B-42F2-BF7B-F1A758B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4DC7A-9034-4F6D-96DB-39491FB8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80ECF-3365-429F-A417-06E77329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ED054-DD81-4665-9319-C5D4ADE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481B2-2664-4F33-A9E9-9545EECC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C7C2A-EB00-467F-A412-1458AA05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A0584-1D92-4BB4-99C9-E5261CAC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CFF70-1487-410F-8045-45E812C3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3BF46-5986-40CD-AFB6-0A0C11BE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57122-40C2-4F15-95D1-DD404E77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87C56-3FF2-4013-BCA9-37659DA6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30BD8-BF13-418E-98E6-F09FF764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418FD-ED61-4E6F-A160-AC646D5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730F79-034A-4BE9-8922-065C5B12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C6173-E9FA-47EF-81CF-DE39C735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D0C55-F0C5-4DF8-9D85-BB11012D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4381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D6510-97E4-4A93-8BC1-08F69E1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业务状态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B22DF7-74EA-4A75-875C-300BD588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queued / running / succeeded / failed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2991A-335C-4153-AF53-1A6A3879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5FB9A-E23D-451D-8055-EAAA3B5B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4381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9525">
            <a:solidFill>
              <a:srgbClr val="E4EC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C20521-EB23-460A-B5DB-1E3D2951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空间状态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B9B6B-7EF0-497B-8AA9-49A2405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62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x / y / zoom / pan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13FC25-3B8A-405A-ACC9-229C8B05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ECDC84-5E85-44C1-A980-A0A8DDC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381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F7EE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9D61A8-E379-4F34-91AC-C3A49207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rPr>
              <a:t>审计状态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CAF3D3-6EEA-41A7-96C8-C85812EC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eventId / createdAt / payload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65BB45-C697-4190-AC6D-74E4506E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62150"/>
            <a:ext cx="390525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17057A-1816-40C8-8B8B-89E56786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刷新 / 离开 / 重进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8FBA0A-5D61-4534-A4C8-DCB65F03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6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FF33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46525B-738B-4651-9545-710D48D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FF337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DFF337"/>
                </a:solidFill>
                <a:latin typeface="Menlo"/>
                <a:ea typeface="Menlo"/>
                <a:cs typeface="Menlo"/>
              </a:rPr>
              <a:t>同一 taskId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295424-E03A-46B0-A2C1-4045C433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rPr>
              <a:t>节点、布局、事件、产物</a:t>
            </a:r>
          </a:p>
          <a:p xmlns:a="http://schemas.openxmlformats.org/drawingml/2006/main">
            <a:pPr algn="ctr">
              <a:defRPr sz="142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rPr>
              <a:t>从服务端快照恢复</a:t>
            </a:r>
          </a:p>
        </p:txBody>
      </p:sp>
    </p:spTree>
    <p:extLst>
      <p:ext uri="{BB962C8B-B14F-4D97-AF65-F5344CB8AC3E}">
        <p14:creationId xmlns:p14="http://schemas.microsoft.com/office/powerpoint/2010/main" val="13888069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BFA542-8A33-4728-83B4-F4D215D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20  真实计算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C5D53-86AF-4673-86E2-3A1A3363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RNA-seq 技能绑定真实 PyDESeq2 执行器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9F6C1-EBE5-40DC-93CD-C1340CFF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页面提交结构化输入，SQLite 记录作业，独立 Python 子进程执行统计计算并生成产物。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F6886-02BA-4332-8A5A-D0237097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79725-AA32-444D-B9DF-21A5A7FD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8175C-E6D7-4113-9AA7-9A0593C4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E678D-A049-48B1-B4B8-08C7674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08059-8A3C-4D5C-B284-EEF4A0FE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95045-A70B-455A-8E49-396B9CE1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74ABE-19C0-4549-A17F-D659EF56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CA96F-5BCE-48CE-9116-EA3FAD6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DAFE1-4108-44F9-A8B9-1A992682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BA48F-495A-44B7-9E74-287CBCA1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EC793-4FCC-43A0-AD35-46CEBB11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8A004-0DCE-49A5-94C7-84162D7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D4D29-D873-485E-9DD8-15A6FC2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96129-9C09-49C0-B79D-20AD3614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6C5DC-41B8-41C6-9E25-EEE65FBE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4273B-F401-481B-84D3-90BF93B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C698D-3D61-40EF-BBB0-825D0345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03FFB-A0D0-4FE4-8879-E7B14BC5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84044-FB6E-4160-8009-10139D35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349F8-7D50-4923-97E1-1DA50E21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248DE-0BE5-4584-9B72-352C6AF0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1715B-FF5A-40C2-9998-2740E08D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F512A2-DB6B-4911-B92F-914CB1C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D892C-0DC2-4EB1-8C49-B5E61080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54CAD1-3F95-4907-B199-DC393ABE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714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68FBE-09EA-467A-88FB-15FF60AD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2E6CB2-7237-4FD1-8663-D7719819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1409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counts + metadata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456A66-4C61-4546-8A15-F5E05E95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956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5F34E6-AC6D-4669-BE49-DC4FB1CF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1714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623FD-8537-49AB-96A5-E25E7485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955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校验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33F634-1F82-4E30-8F6C-A93E701E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90825"/>
            <a:ext cx="1409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样本对齐 / 分组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1F29CB-0936-4249-9AC9-2FC8976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210933-9581-4F12-AACC-0AC7E4CD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714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3C3DD-EDEC-4C7C-9E45-2AAEAB8F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rPr>
              <a:t>队列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BE5D84-6FA5-4CFB-B2B6-4A3181AF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1409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SQLite WAL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5EB463-A657-481E-96F1-10026F59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3CCBBC-5C40-4415-B22F-087753E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1714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A8D0D0-EDF2-415C-9AE0-3E1F6D1C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955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计算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58BD2A-8B8A-4734-9030-F3BAB2DD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90825"/>
            <a:ext cx="1409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PyDESeq2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AEF09C-E736-4E27-BA65-EFCCEB49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F368AC-9D4D-4A34-A527-273A010A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62200"/>
            <a:ext cx="1714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0B48CC-3925-48C0-BF58-1F95BA3F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955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0AA5E0-4406-44F1-9948-138E56A4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90825"/>
            <a:ext cx="1409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CSV / PNG / MD / PY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42BE6F-0087-442B-AEB0-319024FB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29100"/>
            <a:ext cx="90678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FC3253-B1D7-40B0-B740-6F09CCF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243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真实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CC726A-6C79-4165-A342-661889EE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57700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统计拟合与输入校验真实执行，示例数据只代表练习材料，不代表患者数据。</a:t>
            </a:r>
          </a:p>
        </p:txBody>
      </p:sp>
    </p:spTree>
    <p:extLst>
      <p:ext uri="{BB962C8B-B14F-4D97-AF65-F5344CB8AC3E}">
        <p14:creationId xmlns:p14="http://schemas.microsoft.com/office/powerpoint/2010/main" val="9341551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43FAC2-117E-476C-866C-4ECC5A94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21  计算 SSE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840E0-145A-40C8-8004-A6DB9AA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第二条 SSE 让长任务的等待变得可解释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2CA0B-9126-4284-9DA0-4456219C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计划流解释“模型在做什么”，计算流解释“Worker 在跑什么”，两条流共享统一事件协议。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FF54F-BC4A-45AC-B68E-375238F6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A8846-4138-43E5-AA27-ADD49ACE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4A9EE-10A2-418B-B446-D7D2F6AF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657C4-2D59-4B70-A61A-99043F4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98F2A-2C59-4C7F-BEB8-313DC8E0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2C540-83A2-4949-B749-57B74BC2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E83F4-FE04-4D61-B3B7-E848845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0034A-F277-4DDE-ACB2-4A808A1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E1F30-2C40-4883-8F91-F1AF24A0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279D6-9F66-4A51-A874-C48E94F5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C1BC8-6FD2-492A-BBE4-4F09D225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A2CE0-4FDA-4B07-BA86-68CB048F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90DF0-D361-4BB0-B44A-868AEC40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7A237-585F-45CF-B3D0-56E82C9B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9AA17-42B9-47E7-8C53-186629B2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362BE-DB22-49F2-A70E-8875661E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0AD99-7471-4B48-9C90-DE175EC9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47EF8-1AB3-4FC5-83F9-1C7BB34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4A8BA-CA7C-4146-B2BA-6AA9104E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E5E7B-39EE-49A6-931E-94FA1CFB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B6C03-4694-4714-B908-49F3A85F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25391-D380-4E56-B1C3-4E60B55A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EF38D-3121-4FF0-B719-5ECBEF9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8761C-29DF-4C6F-B82C-EBC90D9D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50B46F-C6ED-4F45-A9EF-54E77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31B4F-755F-4880-A075-55699755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0F65DE-6072-4C86-B38D-80F2AFB8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955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30713F-78C0-48D4-9B08-6A2E9B4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337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connected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F9B487-D4FD-4F28-B306-F170AD2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338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浏览器已连上流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9B2F8-CB35-46B2-9CDE-782190A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38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D67750-68F4-4B5F-9729-161F6E0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9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43CFEE-33DE-4A0F-9B65-F72A78E7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955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386CB6-90B4-4CC5-B2DC-5997AA8C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3337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queued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D1B377-6594-4440-83E3-241710BF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338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作业进入 SQLite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3F701-EC1F-4D29-8AAD-B3F137B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E23270-F7DE-4B77-A97D-F7EAE31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9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B99D1F-EF48-4748-AA79-4DA24B32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955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17EA24-AE7A-4955-BBCE-3728A432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337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running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5F0264-05DD-4D89-A017-534BCDA9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启动 PyDESeq2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774F69-E6EB-45FB-B768-25FEB46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13F9F9-138B-4E68-8736-EC9820C9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E0DE97-368E-4914-A90C-74C460EE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955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78C54C-6188-46BE-A56A-AD89E5A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337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waiting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515956-7D7B-4253-B93A-2CD2D838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338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等待子进程产物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3E124A-3F40-4C62-AB64-2939E904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AA4E42-87E3-48C5-BAE7-512F760F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11DF3B-3915-4E1C-9B31-53CDAFDB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completed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E94759-75F2-4EB7-8E80-A50A650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338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结果与报告就绪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0DE9B4-7AAD-4498-A444-AF6D89F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00600"/>
            <a:ext cx="8382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136DA0-86EB-4394-A93B-066E68C0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10150"/>
            <a:ext cx="769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刷新页面后，jobId 仍能恢复当前状态和错误原因。</a:t>
            </a:r>
          </a:p>
        </p:txBody>
      </p:sp>
    </p:spTree>
    <p:extLst>
      <p:ext uri="{BB962C8B-B14F-4D97-AF65-F5344CB8AC3E}">
        <p14:creationId xmlns:p14="http://schemas.microsoft.com/office/powerpoint/2010/main" val="19931929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92C893-58E4-4FA1-9742-D4E5B401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22  失败与恢复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0FCCE-76F7-4B60-AF07-1908EF4C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完整闭环也必须包含失败路径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176BB-9EE6-4988-8869-AF11B44B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失败、取消、重试和刷新恢复决定系统能否被真正使用，而不是只适合一次成功演示。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F8D85-7659-4C68-8B4C-CD92DEBF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A6DBF-E484-4360-B8F5-C2E1C4A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0BF83-38D0-4BC6-8C4A-E9704B71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E3513-B3A7-4B14-ABF7-5DC639C4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D1B9-DF78-49C9-A35B-CB48F9C1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F72A1-A9A6-43B4-B2D3-5038D2B6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5F4EB-3438-45A5-B375-3A2AABB9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6570C-8569-483A-B5FD-525F5DC8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5B6C5-4601-4AD6-A660-0C5D319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AAEBE-37D9-4752-9EDD-AC0A8933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4F4B1-180D-4A10-BC30-D1D93886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7E306-5D18-48D6-961B-166C8938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396C1-E582-4E70-9CF5-FF4863E3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B7513-90EE-4625-8F99-E156759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961D2-2049-48B4-9F5E-49DCFA9D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6E40B-6A7E-4906-A8BC-9C3EC4CE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E19DB-CE3E-4AEF-92A8-6D470789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9BECE-6C5D-46A9-AD0B-7A29CE32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A0764-745F-4446-988F-A46DE3F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D728F-FB28-4BA9-AF19-5DBF2EF6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1A3B3-089D-44B1-949F-9FAF3699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93599-85CF-4B3C-A783-5F8A7403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C084C-049A-470E-ADF4-692C697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2875D-32D1-4114-B778-672DA15C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B7627-5A08-4D00-9BAC-D5449A6C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619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6B68E-D5E8-41CB-9EB2-4B9869FF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F78B9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4F78B9"/>
                </a:solidFill>
                <a:latin typeface="Menlo"/>
                <a:ea typeface="Menlo"/>
                <a:cs typeface="Menlo"/>
              </a:rPr>
              <a:t>queued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EF3A4-395A-47B8-94EC-975C1FBD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等待资源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3ACBC7-D8A0-4ACC-8B8C-E11DEE79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670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14E9B0-3C0C-48D8-A67D-91347553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619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DF9ED-D5CE-4714-B6F9-1C2EB481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running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E13BF-3A8C-4FB9-BA77-BD089268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973F57-34C0-4991-B905-F1EC7AFC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C6601E-AC58-470E-B4B9-1EB5D6DA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3150"/>
            <a:ext cx="1619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7E7E4"/>
          </a:solidFill>
          <a:ln xmlns:a="http://schemas.openxmlformats.org/drawingml/2006/main" w="9525">
            <a:solidFill>
              <a:srgbClr val="F7E7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A9E261-1FAD-4129-8D0B-AF34CD17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54236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A54236"/>
                </a:solidFill>
                <a:latin typeface="Menlo"/>
                <a:ea typeface="Menlo"/>
                <a:cs typeface="Menlo"/>
              </a:rPr>
              <a:t>failed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0A575A-31B4-44E6-9B0E-9E4EE5F4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原因可读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7F8EA-CC04-408F-B0D0-0CD789F7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670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1B3B0C-5943-4C3D-A933-8522EA62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1619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D49508-8492-4EE2-AA66-3072100C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37A21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B37A21"/>
                </a:solidFill>
                <a:latin typeface="Menlo"/>
                <a:ea typeface="Menlo"/>
                <a:cs typeface="Menlo"/>
              </a:rPr>
              <a:t>retry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238815-03B1-4253-8780-E048F0D7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527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重新执行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D25536-24FC-42F0-8FEF-7EFFFB18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670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7FB58B-5E07-40AC-B277-69E98BD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1619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9E8BC9-DABA-4401-8AAA-E09C6ED6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succeeded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A829CC-C4B4-4A01-AE38-55FB515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产物就绪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79D358-0765-4796-B61D-77E41498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9334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7E7E4"/>
          </a:solidFill>
          <a:ln xmlns:a="http://schemas.openxmlformats.org/drawingml/2006/main" w="9525">
            <a:solidFill>
              <a:srgbClr val="F7E7E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25336E-E708-4D9B-AEC5-F89844E0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29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54236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A54236"/>
                </a:solidFill>
                <a:latin typeface="Menlo"/>
                <a:ea typeface="Menlo"/>
                <a:cs typeface="Menlo"/>
              </a:rPr>
              <a:t>错误文案必须回答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9CA08B-20E6-4688-8B2C-59E05782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哪里失败  ·  为什么失败  ·  用户下一步能做什么</a:t>
            </a:r>
          </a:p>
        </p:txBody>
      </p:sp>
    </p:spTree>
    <p:extLst>
      <p:ext uri="{BB962C8B-B14F-4D97-AF65-F5344CB8AC3E}">
        <p14:creationId xmlns:p14="http://schemas.microsoft.com/office/powerpoint/2010/main" val="12387701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0303A6-3ED7-4F25-A3C2-4A736AA0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23  结果交付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DDF2C-B10D-4D2A-99B6-C12D6A28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最终产物必须能回到输入、参数和运行记录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41C30-ED57-4EF7-B9D6-1CB6AA5A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结果不是一张孤立的图，而是输入、方法、事件和文件组成的可复现链路。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297F0-CF3F-44BE-BB91-3880E31A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35EE1-FA37-4FA7-9CA2-2CBAECFA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0177E-095C-4064-8E25-152BA0D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28A37-53F4-42A0-83BA-4F12F0E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117BF-4DE7-444C-9BB9-049EACDA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52584-5921-47C5-8F5D-08A9E3E5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9F55A-0EE7-4055-B3B7-855BEB2E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A1D1D-86E5-42A5-9C82-4EA9D863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6BFB9-2D7C-412D-8B86-1F5EE48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A7A73-6474-495A-AE82-E84E2E54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16B52-24ED-4857-B164-8C02188B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913AB-D78F-4308-AF30-5B90555D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4B4CB-B31F-42B9-B93D-581D2C44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5ADBB-2ADD-42F0-AB5D-912A4981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68A25-580D-4582-8231-1B8EE266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D3F3F-E068-4FE8-9340-2EEC0961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C5BD9-B1E1-4B55-8A09-313FE571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00A0D-C141-4ED2-B047-32290A4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981D2-DDB2-4BF5-B0D2-040F0457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87783-07A5-41BF-AB82-CC81F8BB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39C5C-6BA1-4A2E-AFA0-6DC7B3A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4DB45-A81D-43AD-8CCE-EF45ACCA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CD143-9649-4E34-83BA-A13B531E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5445D-F6FA-44DA-A10B-CB42B730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ae33c48d443f5"/>
          <a:srcRect xmlns:a="http://schemas.openxmlformats.org/drawingml/2006/main" l="3539" t="0" r="35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5524500" cy="3771900"/>
          </a:xfrm>
          <a:prstGeom xmlns:a="http://schemas.openxmlformats.org/drawingml/2006/main" prst="roundRect">
            <a:avLst>
              <a:gd name="adj" fmla="val 3535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A50AE-54C5-4326-AFE4-785770E8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5E8C8F-2312-40B2-80F6-2E7F1ABC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955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results.csv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86EEE5-6F0E-45B0-883B-610290D3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CE456-7700-4917-838A-A4ECD04D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955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volcano.png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F27827-63A3-41A4-83ED-7530FAF5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EF026-6855-4EA1-A910-F539D489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report.md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D55DF-9164-4C62-9560-6F3D8E26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1905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CD3FEE-2A0F-424B-8E0B-FC05E187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623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analysis.py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A2B4A3-6D8E-4D28-AA70-16EF121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22B8B6-6F35-4B30-A4FC-D1E5A9F4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291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输入 → 参数 → 节点 → 产物</a:t>
            </a:r>
          </a:p>
        </p:txBody>
      </p:sp>
    </p:spTree>
    <p:extLst>
      <p:ext uri="{BB962C8B-B14F-4D97-AF65-F5344CB8AC3E}">
        <p14:creationId xmlns:p14="http://schemas.microsoft.com/office/powerpoint/2010/main" val="1157425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17FD38-14DD-442E-81B1-39C0415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24  结果理解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F9888-C967-4D68-B496-B3E6F251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火山图把统计结果变成下一步决策入口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C53CD-A559-4CE7-952E-C7FBC3D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候选基因列表与图表联动，点击后可以继续查看 FDR、log2FC、来源节点和结构证据。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86EBE-93C1-4706-9471-233B0D09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B87CD-3854-406E-942D-854AEAF9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18ECD-F1E1-4471-A98C-8C934346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8E096-DEFA-4606-AC74-99F12C7E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3DDE8-6EC6-42B5-AEE9-DC8978B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49B53-89BD-4EFE-BFED-3AB8AF86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7609A-A120-466E-A732-9CC53374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8D26A-5ADF-4ADC-ACA3-737D3B6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B822B-7156-4152-ADB3-F6EDFA9D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F345E-0E92-401D-82B8-3AE3236B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41B9D-7A16-4525-9C1A-220B9CBB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4977E-A84C-492E-B127-E75A75AE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B2732-8F64-41D0-8E26-AE34E0B0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9C120-D580-4877-B2EB-0206BE9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2A53B-B802-4FAD-9CC4-FEF20FBC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27D8E-9419-4FAF-87A1-084BB5B9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97D69-672C-4A7C-A24F-AB517C5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A3588-2C9A-44F4-896C-534F9F3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0DE1B-3394-4FF1-A59C-8FE51D5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32AA5-771C-478C-A17D-6A7D8BD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6A8AD-8B4A-4295-94BC-F6F4BE0D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12EB4-E024-4A75-8695-4BBCCB42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12F03-130C-4D2A-8656-E25EC0F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F625A-6D8B-4D74-8F3A-5826DAD0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f326610e24b6f"/>
          <a:srcRect xmlns:a="http://schemas.openxmlformats.org/drawingml/2006/main" l="0" t="3615" r="0" b="36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6667500" cy="3924300"/>
          </a:xfrm>
          <a:prstGeom xmlns:a="http://schemas.openxmlformats.org/drawingml/2006/main" prst="roundRect">
            <a:avLst>
              <a:gd name="adj" fmla="val 3398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FDD90-637F-4599-92BA-A7845303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90700"/>
            <a:ext cx="3848100" cy="39243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2DB51-BB66-4BC8-8C5F-802C9575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CANDIDATE GENES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E5305-EA4D-498E-A524-9E7F09F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143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A7AD4-755E-43F2-9CE0-5024DB0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E2F1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60B493-5E65-4184-B00B-FA9603DC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FDR 0.0004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CA8F5E-FEEB-41C5-8ED0-AFC268CD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670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54236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A54236"/>
                </a:solidFill>
                <a:latin typeface="Menlo"/>
                <a:ea typeface="Menlo"/>
                <a:cs typeface="Menlo"/>
              </a:rPr>
              <a:t>+2.84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B0F37B-84EB-4458-8575-B53DBCF3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3143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85792D-1BD4-425E-88E3-54693927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CCNE2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D2FA63-C309-43C1-AC14-CFE96DEF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FDR 0.0012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A4DCCA-D81C-4BEC-BF5D-9DE5EDA7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194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54236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A54236"/>
                </a:solidFill>
                <a:latin typeface="Menlo"/>
                <a:ea typeface="Menlo"/>
                <a:cs typeface="Menlo"/>
              </a:rPr>
              <a:t>+2.31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40FA75-AAA6-4BD8-90CB-DEFF87E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76650"/>
            <a:ext cx="3143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1E2D36-CA86-48C7-B549-16E712F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CDK1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62F27F-B631-44EC-A684-B9CE970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719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FDR 0.0028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099F96-3F3C-4FB8-8ED4-454CE2C1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719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54236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A54236"/>
                </a:solidFill>
                <a:latin typeface="Menlo"/>
                <a:ea typeface="Menlo"/>
                <a:cs typeface="Menlo"/>
              </a:rPr>
              <a:t>+2.07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75441B-A3D1-4B02-B47A-61951F17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3143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E51049-2764-463A-B4AF-AA69A64C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MKI67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9375A0-BCDF-4974-8CD6-49CD6C93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FDR 0.0063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ABBAA9-B4C0-41C5-ABBE-7190DB4D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3243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54236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A54236"/>
                </a:solidFill>
                <a:latin typeface="Menlo"/>
                <a:ea typeface="Menlo"/>
                <a:cs typeface="Menlo"/>
              </a:rPr>
              <a:t>+1.72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20A1EA-3BC8-4AC9-8D1E-196F4CE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833B99-909B-44A6-910F-66CEA65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点击候选基因联动证据与 3D</a:t>
            </a:r>
          </a:p>
        </p:txBody>
      </p:sp>
    </p:spTree>
    <p:extLst>
      <p:ext uri="{BB962C8B-B14F-4D97-AF65-F5344CB8AC3E}">
        <p14:creationId xmlns:p14="http://schemas.microsoft.com/office/powerpoint/2010/main" val="14490801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593838-A160-4E1A-A478-D648166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25  结构解释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01FB8-0890-4666-93D0-B453D93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3D 视图把候选结果连接到结构证据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AB713-0B85-45F9-BCB8-E7A776E2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结构视图服务于解释和联动，当前实现是轻量 Canvas 查看器，完整 Mol* 是明确的替换点。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76FF0-C587-4413-90AD-85F67535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18FAB-7258-4346-B8FB-19ECC005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82696-8D14-49A0-B018-AF648209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9F8AD-6698-4F1F-9F87-2F3BCBEA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1DFCD-2EA3-4432-B7C1-2A565E3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05406-8693-4510-B16A-06AC1F0B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C9840-462E-418E-8F78-55876BD3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F6F26-D63B-4D5C-B5F8-403F6D74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97E29-6FCF-4D85-A0B1-BEE8645D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9DAAB-8D52-4550-B92D-AD287453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BF8B0-60D3-418A-9F81-CD97177F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6DA35-4DDE-42DF-94E3-95FCD016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801E3-E8CF-4DF2-8056-EF192618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CBDEB-5055-4604-99C1-E9A37543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34CCB-0116-40D5-AC89-DC7CBCC7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B6976-DD92-4215-921E-9D84D384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FFA35-75EE-4B01-8C5A-0C9093CE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82506-03E3-46B7-A068-B4740232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D3362-8223-46CD-BA33-72A61F16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1D361-C708-42D7-BD4E-1A3953E9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638FF5-9DD8-48DD-B929-A1978EB2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8847D-315B-408D-B83B-695B15B0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21E201-1513-4FF7-9B0A-6E81A977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8199E-F5B1-4F2F-809B-6BC020E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ac6439f7f4d31"/>
          <a:srcRect xmlns:a="http://schemas.openxmlformats.org/drawingml/2006/main" l="0" t="4046" r="0" b="40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6762750" cy="3943350"/>
          </a:xfrm>
          <a:prstGeom xmlns:a="http://schemas.openxmlformats.org/drawingml/2006/main" prst="roundRect">
            <a:avLst>
              <a:gd name="adj" fmla="val 3382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142BBB-1ED8-454F-8541-DE9CFD62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90700"/>
            <a:ext cx="3752850" cy="3943350"/>
          </a:xfrm>
          <a:prstGeom xmlns:a="http://schemas.openxmlformats.org/drawingml/2006/main" prst="roundRect">
            <a:avLst>
              <a:gd name="adj" fmla="val 3553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9525">
            <a:solidFill>
              <a:srgbClr val="E4EC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90A89-71B1-465E-B7BC-70655963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D805BE-A37D-4EF6-AE3D-1606E4F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7C499-D458-44AC-9898-E078A367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轻量结构查看器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E14117-84DA-4B28-AB69-B3789423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E0DD12-17A0-4684-BE6D-9586D32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旋转、缩放、残基选择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4B4DDA-9A61-4966-9A87-5202F936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97135B-416F-4333-A461-C9172EE1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候选基因与证据联动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63804F-3D90-40BB-B2D5-7304E50A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B8376C-C1CD-46F4-814A-B4E80B3C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338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完整 Mol* 可替换接入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16EFCD-B572-4F29-BA08-7C7798D6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边界透明，升级路径清楚。</a:t>
            </a:r>
          </a:p>
        </p:txBody>
      </p:sp>
    </p:spTree>
    <p:extLst>
      <p:ext uri="{BB962C8B-B14F-4D97-AF65-F5344CB8AC3E}">
        <p14:creationId xmlns:p14="http://schemas.microsoft.com/office/powerpoint/2010/main" val="1459951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55F027-B553-49E7-BA37-F0C1F9B9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26  技能中心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D8C90-7DC5-42CC-A981-40288D67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技能不是卡片名称，而是一份可运行的契约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03DEB-28D2-4A02-B77C-60C93DD0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详情页同时说明适用场景、输入输出、执行引擎、接口绑定和可信边界。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E5B5A-ADB1-4EC5-8703-654BB911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11410-7D03-4BD8-A6D5-B724C8F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67D5-AC5C-417A-9602-028DE87C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EE8F3-062A-436A-9C4F-83B07F4F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4CB53-80AA-4966-A365-B155F7BA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5630D-A68D-409A-AA75-DCB00CA1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9FD63-925A-43BD-9DD8-DC1301A5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3725A-E98F-4305-89E5-88FD0777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EDC0F-CB50-44B4-AB34-B0ED16C7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2C6F5-1FCA-4209-9F33-ED668C52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63689-24DB-4546-9E9D-9444711C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49324-1FD3-4DB5-BAF4-9DDA3D9C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8C409-CE05-4CDE-8F46-8A5C695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4A838-0A61-4C97-A88A-90CD09FF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4D35C-3A9F-40AB-9A8D-E04ABD91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DF6D8-027E-4ABF-8D49-639FAE83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658D8-4F6E-44D9-BF1C-FD456B6D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C44DB-8E3F-4F03-A843-1B7249B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57281-EF02-4371-B073-956ECFF5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59C67-450F-4B4D-BC80-12B34AC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7D42F-9CE9-407C-9CCA-15B541D0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EFC70-8C8D-46A0-A8C1-C0B488E4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E568F-D0B8-4B78-8C33-18C94E4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793D1-023D-491A-A73E-C59900DA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c34a02bd74654"/>
          <a:srcRect xmlns:a="http://schemas.openxmlformats.org/drawingml/2006/main" l="3210" t="0" r="32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5619750" cy="3810000"/>
          </a:xfrm>
          <a:prstGeom xmlns:a="http://schemas.openxmlformats.org/drawingml/2006/main" prst="roundRect">
            <a:avLst>
              <a:gd name="adj" fmla="val 3500"/>
            </a:avLst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0886d7cb542e5"/>
          <a:srcRect xmlns:a="http://schemas.openxmlformats.org/drawingml/2006/main" l="7810" t="0" r="78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809750"/>
            <a:ext cx="5067300" cy="3810000"/>
          </a:xfrm>
          <a:prstGeom xmlns:a="http://schemas.openxmlformats.org/drawingml/2006/main" prst="roundRect">
            <a:avLst>
              <a:gd name="adj" fmla="val 350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C0650E-134A-4C94-B8D4-830F56F0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7F72E-D683-47ED-8D7A-93CC408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C4DBF-95A3-4914-9626-AEAF8C9E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970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26E1FF-9345-43E1-973C-E6886E11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38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契约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544A06-4BF5-48A7-8AE6-1C8F3CFB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76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启用 / 停用 / 删除 / 创建任务都有明确边界</a:t>
            </a:r>
          </a:p>
        </p:txBody>
      </p:sp>
    </p:spTree>
    <p:extLst>
      <p:ext uri="{BB962C8B-B14F-4D97-AF65-F5344CB8AC3E}">
        <p14:creationId xmlns:p14="http://schemas.microsoft.com/office/powerpoint/2010/main" val="2746768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369988-5300-4A5B-B800-2F4E5BB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27  响应式工作台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D7B3F-AAD2-4CDB-A04C-14C96009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同一条研究路径，三种屏幕密度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6DCE0-4F44-4A30-A222-D9FE5959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适配不是把页面缩小，而是重新安排导航、抽屉、分页、对话框和任务标题的优先级。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710DA-9F1B-4176-A78E-F2F9A831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86613-652E-4E56-8753-5B9AC511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5B7C1-7B80-4FAB-8546-3334ED7B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32EE0-0025-4179-B872-98B2643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452E3-F441-4C2C-B106-5187F402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89C1B-1AB9-42A6-9A2E-594F2A1E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9D1B0-D3AA-4D3B-AD05-DCA3F8E8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09992-4DEE-41F4-A14E-D38DE7B7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7E37C-3D96-4492-8411-53BDC54B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4BE19-74AA-4CF5-8FEC-7B038AC8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ACA2D-EF75-4C78-8C96-87915BD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78C70-E669-465D-B053-D761FAC5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6B934-493D-4903-994D-C1F5E614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129F5-9F80-4BD4-931D-743DD42C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42FC7-657E-498F-9950-53D758D4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6F3BF-2DA0-4A68-9DC3-4889ECA9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CD8B6-31A2-4D9D-9037-F4A02083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D5C73-BDD3-4795-B549-28F383D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BB07D-958A-4EF5-A950-B898F4F0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0CAAD-8820-4719-BB41-8A743B5C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4E548-244A-4776-A067-816C3173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37945-EF93-453C-A251-9A81568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8B585-BCE6-4D4D-B8DB-3DDB809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81958-EA89-4C3E-A470-D7BFFB1A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CD6304-74F9-4AF1-B554-5B308472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0480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095A59-E971-4247-8DD1-D7131960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大屏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26BA58-F886-40D1-B228-328174E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DE33E3-A44D-4119-95F2-6211E2E5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860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三栏并行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7002BA-ADCF-47CB-8F45-4BC5755A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95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5BD1A2-81B1-4381-8EB8-6B7C0B23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1409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C729C8-1400-43B3-B3BD-67FFEA0B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457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AB96C7-1C77-4167-B78A-DEEFF7D8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任务标题吸顶 · 局部 Loading · 吸底输入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4EF2C4-3F84-42C4-9BC5-3CF6BDCF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9300"/>
            <a:ext cx="30480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CA2F68-4179-498D-A929-8501FD5E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中屏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4233A1-F78A-4FED-A25B-96227F21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2A59A1-C017-4A23-B16A-E48C909E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检查器抽屉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146114-1F49-488A-ACD9-F000CFD1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2305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0EA73B-9BFF-4B3D-AC8D-27E61E1B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71800"/>
            <a:ext cx="495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B231E4-AD86-4309-838E-7A16DAB3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719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任务标题吸顶 · 局部 Loading · 吸底输入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A6E6B0-59C9-4747-8490-911FB690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476500" cy="25717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AF5721-52A4-47E1-9C94-192C1E02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移动端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B205A2-68CC-411A-873A-2052396E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51A2DC-2E30-4C92-8DDB-387E5988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86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内容优先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2CCCFB-C216-49C8-A161-8BD7F46F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1219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E9F0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6E8E36-383B-480F-A4A6-42A71704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25B2CD-A99F-422C-9694-DD2EEFE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任务标题吸顶 · 局部 Loading · 吸底输入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F1CB68-B7F7-4B53-84C9-D268C49B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移动端仍保留任务切换与五个核心工具入口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9F88DE-B9A6-4562-AE41-4AC1510D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证据来源：断点合同 + 浏览器回归，而不是简单缩放。</a:t>
            </a:r>
          </a:p>
        </p:txBody>
      </p:sp>
    </p:spTree>
    <p:extLst>
      <p:ext uri="{BB962C8B-B14F-4D97-AF65-F5344CB8AC3E}">
        <p14:creationId xmlns:p14="http://schemas.microsoft.com/office/powerpoint/2010/main" val="19412238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821F7C-ECF3-4FF4-997E-6FF9E071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28  交互减法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E9BF7-B52A-4D12-9790-9D29CD4A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每个视觉模块只保留一个明确职责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AC4A4-F68B-4F7A-BDEF-3B87DA10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去掉重复二级侧栏、双边框、伪弹窗和全局 Loading，才能让复杂科研流程保持可扫描。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B417B-A488-409C-9B78-0A3D487B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B78C1-677D-4FA6-84BA-6DEB539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94878-2C96-439F-AB12-C591851E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54A8C-E997-4027-8064-0AC54BA9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461F4-8812-4956-A496-527D09EB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129AE-81B0-4E3E-A386-3A2F498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CD426-7B7C-4FCA-ACA4-0DE3012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D6D16-00CA-48FB-8456-DAE734EF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A55A0-8C1B-440E-92B1-181AAC16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627D4-FC5C-4BDD-958A-37C42927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5A0F0-613F-45AC-8828-02E9721F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2C414-EC71-4C79-9C6F-8BA9F9AA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3C49D-79FB-4E7F-A744-B9CC7E4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52F9C-4D50-4325-AE09-E78B0FD3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AAF13-8A5E-4FD6-8B46-1C72E850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1A99C-5FE4-4100-917C-363D4288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FC139-F32E-4488-BA70-7928C9ED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6A5B9-EED8-4E08-9B24-D53C3AAF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1EA5C-357E-483C-8469-936E2A40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BEFF3-497C-47B7-9C24-DB01D67B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7F1B8-46FA-4445-AA87-F51E9458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286A3-350D-4B53-A401-02AAEF30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0B5D0-DA6B-4FD3-9133-0460BCF9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EC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59BB4-7B73-4DA6-AC3C-4370C154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C940C-4E58-4F19-98F1-4F9AC8D3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5720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7E7E4"/>
          </a:solidFill>
          <a:ln xmlns:a="http://schemas.openxmlformats.org/drawingml/2006/main" w="9525">
            <a:solidFill>
              <a:srgbClr val="F7E7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49A99-894C-4B5E-9D58-3FE26621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45720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F1663-0642-43F3-AA61-3C398BE4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5D372-A4D8-428A-A5EA-0E6D596C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发现的问题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036AAC-DCCE-4E30-BE60-72B76A2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669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A5DE36-3CB8-4AC4-9FC2-EAF0BE3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86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现在的合同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BCE130-FC2F-429A-ACC3-38D9B40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9AB9B0-5009-4C27-B68E-B20DF674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二级导航重复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388A35-E8DA-4A9E-8B35-6BCC8853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7E7DFC-1FC8-4471-AF8E-7F5C3BD6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弹窗尺寸不随屏幕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159EB1-2C1B-48AD-B104-795B799A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DA1ACC-9C2B-4602-B5A3-7433C17C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全局 Loading 打断上下文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8232E5-9791-433B-82D2-AE41824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D15302-9B3F-46F8-8361-32EFFFB2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结果盒子脱离运行过程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99C068-EB7F-4C82-B04E-2E181947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7EB68A-9F89-4002-83BD-07559595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一级导航 + 当前上下文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C8C8E4-B2E6-4899-9A23-1DA6E8A6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591253-0DBD-476A-AC3B-5E7F02D4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ResponsiveDialog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36BBAD-59A4-4C2D-8D52-070D0471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74C2C4-A9AC-4D5F-B35C-02973D60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content-level Loading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18937D-0D78-4FAF-8F05-3C992DD9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3625C4-981A-4DDC-BF63-9DFD6A69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运行过程内嵌在对话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121313-2CA4-434B-945E-2D16833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8E1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B06F26-C1F1-44F5-8D50-C379D16F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少一个层级，就少一次解释。</a:t>
            </a:r>
          </a:p>
        </p:txBody>
      </p:sp>
    </p:spTree>
    <p:extLst>
      <p:ext uri="{BB962C8B-B14F-4D97-AF65-F5344CB8AC3E}">
        <p14:creationId xmlns:p14="http://schemas.microsoft.com/office/powerpoint/2010/main" val="474820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D79F58-BA62-4457-927C-94467ED1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29  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D9E01-5B28-4929-9AA6-3871A30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浏览器只看到一个工作台，服务端承担安全与重任务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0C4E1-4340-4B47-ADF8-CDDF94D6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Next.js BFF 统一鉴权和 API，FastAPI 专注解析、检索与计算，模型密钥和 Worker Token 永不进入浏览器。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CEAD8-B448-4458-B5C7-A0529DD0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8D8A6-ADD7-4E0D-9311-CFD3B95C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507D3-0D98-450A-9AB1-63D11CD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76FFF-047F-4650-8021-48D19D10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2F91E-9484-4297-8F74-BA7EDE78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B8EF9-8A9A-4643-8F04-6C822457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A36FA-D76E-428D-A442-E0177DB6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767FE-7907-468C-A6B3-75BD9910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6684F-DED2-497A-8176-12AEB01D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65706-EBC3-4C68-B8DF-BD6A3CC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1385D-4B17-43DD-A907-55B5AE22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25914-6162-4D6B-9B1A-6160055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F85C3-472B-4734-9743-6D754307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27017-4312-4A6D-AA81-17B3740D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5FC0E-68F2-4872-9BED-F35048D6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C5F97-BDE2-4232-A2D1-FBAE688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769DE-82AA-4D4B-9559-FD6021B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09B78-940C-4828-AA50-5AB91C0F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84EE3-F031-4262-BDBF-59D281D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17114-6F8C-42E4-8E79-5F5CB32E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87BD6-ECDD-4503-AE67-B3D3A315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9E803-BB5F-4153-BEC9-F8CDC397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B660B-1496-43EF-BAC5-19722884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43175-2523-4E0A-9410-4E20B5BE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1BA0CF-7BAB-4752-A654-1F7CEC2A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095500" cy="22860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9525">
            <a:solidFill>
              <a:srgbClr val="E4EC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2B0448-573B-4E03-A048-C8D7F2C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Browser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B62BEE-5D34-4779-AD01-A173FFD5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Next.js UI</a:t>
            </a:r>
          </a:p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MUI + TypeScript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6CD39-EBD0-42B1-9985-659F0BB1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69B97C-AC9F-424C-ABB5-FA425DE0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574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BC20B-8916-40D8-B167-CBDEF66E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BFF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1BF79A-EB42-4B59-90A9-AEB52F8A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App Router API</a:t>
            </a:r>
          </a:p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Bearer + RBAC + Origin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705181-6A15-4A5C-8FBE-65E67848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1512B3-D947-4743-8AAB-D70B63B7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F7EE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78D75-3203-4B68-BA6C-E16D649A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rPr>
              <a:t>Research Service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7CB84D-6B80-4C66-BADE-4FCB2D98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FastAPI</a:t>
            </a:r>
          </a:p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Parser / RAG / Queue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B83DBE-07D8-4D0D-A928-6B9FE3B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04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E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D993F9-35E7-4EEA-A362-EC755B46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9449D-2121-47BC-86A0-02064748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B8E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7B8E12"/>
                </a:solidFill>
                <a:latin typeface="PingFang SC"/>
                <a:ea typeface="PingFang SC"/>
                <a:cs typeface="PingFang SC"/>
              </a:rPr>
              <a:t>Local Data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26C5AE-4941-4100-8BF2-F7C42D38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956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JSON / SQLite / Qdrant</a:t>
            </a:r>
          </a:p>
          <a:p xmlns:a="http://schemas.openxmlformats.org/drawingml/2006/main">
            <a:pPr algn="ctr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Objects / Jobs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ADCB0E-4388-4F17-A82D-F066E9FF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031F01-C741-4367-8FBF-5217DABA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浏览器不直连 LLM、Qdrant、SQLite 或对象目录</a:t>
            </a:r>
          </a:p>
        </p:txBody>
      </p:sp>
    </p:spTree>
    <p:extLst>
      <p:ext uri="{BB962C8B-B14F-4D97-AF65-F5344CB8AC3E}">
        <p14:creationId xmlns:p14="http://schemas.microsoft.com/office/powerpoint/2010/main" val="34831175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963C8C-03EC-4D88-AE8E-1AF3ADB1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30  API 与安全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2C423-FA84-4172-9CB4-866A73A2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接口契约把前端亮点变成可验证工程证据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053A5-EB7F-47C6-AEB2-AD4782F1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接口按认证、项目、任务、文件、技能、RAG、运行和管理归类，入参、出参、状态码和持久化映射都可查。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D77FA-D55F-476D-92E0-3B60B636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36D14-8655-408F-8211-67788811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4A790-9381-4F59-9009-4A8847D1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85FA4-2FB1-4592-8990-BDC3B2C6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234BB-F305-45BF-ACDF-629FEB6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65FF0-211A-4BBA-886C-3DF5B5B5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D62C3-EEAB-4897-98E0-5EB72E2A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C1F6F-B82E-410A-B3AA-C7E910F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F4F1C-7F59-4A31-AA1A-35A1D8AB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87ED2-F65F-484B-B551-05F5C933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B8F25-0E89-4A4D-96AD-03027599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11F96-BADE-43DD-873D-559C8E94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96973-3CC1-4550-A5F2-94484C02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476A0-D1CB-4BCC-8304-7A3D664F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FBA8C-A3D4-4F13-B183-97E671D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DE988-AEAC-4D53-9C71-9E3CD554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2640B-2065-4DFB-AC66-2B83677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48CC3-105B-4AD0-B798-9659B531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9C8CD-97D5-4E16-841F-808FA05F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CDBCB-ABB9-44E9-A6E9-AA7A2D17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96DFC-A3DB-454E-8DDC-C79DFD68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75311-00BB-44C3-815A-A0D36558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534DA8-19AD-4C15-B8FD-5B12FEC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21AD7-E40A-4899-96F5-80F4AE0C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778BC-59CC-4C60-9525-A0EE818C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43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732D1-FF5D-4B31-AF7C-3F8862C6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认证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10E8A-3B9A-4ED0-895F-0C4A030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login / session / logout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1A514C-88D1-4651-BC60-19346AE3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24050"/>
            <a:ext cx="3143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88CF15-EB29-4450-AD0D-3BDFBCC5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FC241-AA2D-4F72-846E-C789291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1935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tasks / plans / reviews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6CBA98-8FFF-4703-B2AA-1C70BCA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143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1DD950-0734-4B13-8A15-57B82E3F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6BC39B-C58E-42AF-B445-EA1E94A3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files / preview / parse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6F4DBB-2A27-4553-8ABF-44164590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143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8EFEB"/>
          </a:solidFill>
          <a:ln xmlns:a="http://schemas.openxmlformats.org/drawingml/2006/main" w="9525">
            <a:solidFill>
              <a:srgbClr val="D8E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CB9FD2-31FA-4755-B427-423A65C9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7BCB52-B3A8-4915-8C82-9AABAD7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rag / agent / stream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BB645-2C33-4E46-BA66-FE7A4D38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24200"/>
            <a:ext cx="3143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319D9F-5FFB-449D-9FAE-16FC3198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运行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28A96A-7569-4217-8BAF-8539A855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jobs / analysis / artifacts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482C74-B3C0-49CB-9952-69E69B48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3143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B5878D-8D3B-4B44-901A-8D5674F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管理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45024E-8AD6-49A0-B680-8715AD2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users / permissions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FC91FB-65CC-486A-9966-9CFAFE99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2870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3BBF12-A5AC-4BEF-BBFF-7DA5971C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FF337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DFF337"/>
                </a:solidFill>
                <a:latin typeface="Menlo"/>
                <a:ea typeface="Menlo"/>
                <a:cs typeface="Menlo"/>
              </a:rPr>
              <a:t>Authorization: Bearer &lt;accessToken&gt;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F78B9A-4882-48FB-BE67-BB537F0B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401 / 403 / 409 / 422 / 502 / 503 均有明确语义</a:t>
            </a:r>
          </a:p>
        </p:txBody>
      </p:sp>
    </p:spTree>
    <p:extLst>
      <p:ext uri="{BB962C8B-B14F-4D97-AF65-F5344CB8AC3E}">
        <p14:creationId xmlns:p14="http://schemas.microsoft.com/office/powerpoint/2010/main" val="20551275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55AB7C-7B8C-4337-9B38-1714E8DC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31  技术选型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9454B-A6FA-4666-917F-4DC2B6D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选择的标准是面试电脑能启动，生产路径能迁移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B8C4E-477E-45A1-88CB-E5371EAF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本地模式降低运维门槛，同时保留从 JSON / SQLite / Qdrant Local 迁移到生产服务的边界。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15A6D-AD44-4B63-A06F-0E63D3F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ADCB6-F833-4147-BB92-446BCBEB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8ECC5-2BBC-4D4A-BF6B-468C4E63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144CD-1558-4AE3-B750-06B0D644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793A9-1FDB-4823-A877-43F03556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86B79-DB4D-4DD8-AE67-17B46B46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4AD7A-EB84-4FDF-A981-A40CB132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1A8FD-D65D-4519-AB95-2888B0A6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D8496-F4F6-4BE2-BDEA-C7C825C0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5E9C9-C311-44DE-B4FC-7C61985A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A7083-D7FD-4A7F-8795-66B96966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D9D20-41A7-4BAF-AB09-B4755C7B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9A410-98A5-4BE2-AB7B-5A65D9B6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5BFA4-0C3F-4B33-9F98-39A7947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05181-40C7-42E1-8863-1C3C6D1A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13F40-5378-4361-B095-D3736724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EC25E-DB42-4FF9-ABBD-374E1A41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BCEB1-91EA-40D1-8639-71F50195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CC816-1C6F-4619-85EA-242B9CD1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07B2B-41D7-46B0-962E-102186B5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21B88-1C6C-4C6B-8AED-BD70098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29EFA-DDC5-4777-831F-99618A6A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16225-2E9A-4AB2-A855-F505603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A0DA2-7A08-4897-81F5-C9938F5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5E74B1-2431-4583-9D80-3BA96E27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8B9"/>
          </a:solidFill>
          <a:ln xmlns:a="http://schemas.openxmlformats.org/drawingml/2006/main" w="9525">
            <a:solidFill>
              <a:srgbClr val="4F78B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ADD9F-5A5E-4FB1-B985-C5A54A7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4F78B9"/>
                </a:solidFill>
                <a:latin typeface="PingFang SC"/>
                <a:ea typeface="PingFang SC"/>
                <a:cs typeface="PingFang SC"/>
              </a:rPr>
              <a:t>Next.js + MUI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F0A37-DBA8-4878-87A3-5B59934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统一 UI、BFF 与响应式组件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C8B3F-324A-40C7-B88F-90C79F14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277161-1E27-41A0-8985-F4583758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35C472-24D5-4E3B-B389-9A93F6DA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3BE062-F03A-4E4E-B948-1DA6AB22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0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解析、RAG 和统计计算隔离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CF7F6-1F94-4A40-AAC1-6D37EBB3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FDE70E-6550-4C20-8EED-7D2622C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E12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DD7459-85A7-4F9A-BA17-88CF6446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480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B8E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7B8E12"/>
                </a:solidFill>
                <a:latin typeface="PingFang SC"/>
                <a:ea typeface="PingFang SC"/>
                <a:cs typeface="PingFang SC"/>
              </a:rPr>
              <a:t>FastEmbed + Qdrant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7345A2-07D1-47CC-8867-F0F138CB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真实向量索引，Local 可切 Server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62B3A-E239-4C80-80A8-D2939949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29BA2E-ADE9-45F1-B0F7-B8D2C412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7A21"/>
          </a:solidFill>
          <a:ln xmlns:a="http://schemas.openxmlformats.org/drawingml/2006/main" w="9525">
            <a:solidFill>
              <a:srgbClr val="B37A2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8D1ED6-9761-4FEA-A993-7F556FD1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957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B37A21"/>
                </a:solidFill>
                <a:latin typeface="PingFang SC"/>
                <a:ea typeface="PingFang SC"/>
                <a:cs typeface="PingFang SC"/>
              </a:rPr>
              <a:t>SQLite + Worker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11C7F5-4B47-49AF-9492-150126CF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052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零 Docker 的异步作业恢复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2DAE17-6E20-4696-938C-85F6F55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8F60D0-8F87-4E5D-89B9-C51C45B3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4236"/>
          </a:solidFill>
          <a:ln xmlns:a="http://schemas.openxmlformats.org/drawingml/2006/main" w="9525">
            <a:solidFill>
              <a:srgbClr val="A5423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A357E1-21E2-4537-9059-EDF75EC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434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A54236"/>
                </a:solidFill>
                <a:latin typeface="PingFang SC"/>
                <a:ea typeface="PingFang SC"/>
                <a:cs typeface="PingFang SC"/>
              </a:rPr>
              <a:t>PyDESeq2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5FB2F1-9AA8-4844-9EA1-8CD0836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52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RNA-seq 统计执行器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583C69-A6B1-4190-AB75-A5530300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F920AF-FE72-4DE2-AE96-DF3DA45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2476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B84685-3C72-402E-B795-0DB84964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单命令启动  ·  生产可替换</a:t>
            </a:r>
          </a:p>
        </p:txBody>
      </p:sp>
    </p:spTree>
    <p:extLst>
      <p:ext uri="{BB962C8B-B14F-4D97-AF65-F5344CB8AC3E}">
        <p14:creationId xmlns:p14="http://schemas.microsoft.com/office/powerpoint/2010/main" val="164155420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E89940-FB23-4883-83EC-D6DAFDA9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32  AI 辅助开发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83E8F-E02D-4163-8E77-CC239427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Agent 的软能力体现在拆解、取舍和验证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8C8B0-3A67-4C9F-BF59-111ABAA2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AI 辅助不是一句“生成代码”，而是一套从陌生领域建模到浏览器回归、提交和边界披露的工作方法。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98B79-5019-4CDB-B308-4B72E2D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5F052-DF35-400E-A250-1A63F6AB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E2CE8-C4D4-4E53-872C-2F1A8E04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0B338-B157-43C2-AF8E-CE397F6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17E3F-D4B9-41B1-A1E8-546A8D29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C4654-7529-4790-AA64-008F4E55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28948-C760-40BA-A461-0EAF02BD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DAFBD-EB7B-492B-99EE-2161E098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6B4C2-FCA3-411A-9802-56518D5C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D7951-F40C-4BE6-8D11-CABB515C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FD328-B742-4BB9-9A18-F6F52BD3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A1DFC-CF14-4E90-9EFE-F10B9EFF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537A1-B91B-46B6-9C5E-3C0CC5A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CE3A1-F84C-40DD-AF9D-5721FC76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FEDF1-8A88-4C8B-ACE3-FDC09993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FC0B9-E204-483C-BA76-BAAC556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61ED3-A072-446B-96B7-9441D6AC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F5750-A4F3-4A82-9592-AD307826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0B77D-53E4-48C9-87DD-8A84E712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83644-4230-471D-BCD4-CCB06EE6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E773B-2C7F-4734-A2C5-2E32CF06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326EC-71D4-45D8-BC6B-A5C8EECC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A63831-0CC9-4655-92F9-4E034BB9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6BEB6-79BF-4DB6-AD04-EA6ABD83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EDAE2-C35E-457B-970D-E169850E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4FD5A1-984A-471F-94FA-7E94D23E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BC748-B8E7-4563-93EB-73066C6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7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85285-3476-489D-9EFF-2D56E2AF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118AF-9AD5-49E7-BED7-CCFD976F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710047-2461-48D5-B0D7-AD2E1BA8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39919-2307-488D-B0F9-EF9F41A6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7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约束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57BA1B-C4F9-4B36-A168-F7DB5C51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5747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5ADB79-110B-426C-91FA-9E6F4E93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BAE12A-0025-410F-9F5C-A3D9949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22773E-A335-4367-87BD-A00C0F8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实现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741212-E4A5-48C7-8385-A5B263AA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5747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21C7BB-7DEB-460F-A208-154FFC9D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D85317-F996-44C9-BE4D-587AEF9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331E35-1EEC-4F60-8553-434C0D20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Review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21E61-FD3E-400C-B96F-5BE05CCE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5747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9777CD-A50C-477B-AAAA-1DCDC754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78E492-3959-430B-AAB0-73F733DF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FD81B5-175A-46D1-A48C-AB810327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DF7302-E728-47C3-85D7-C1119D49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5747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E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70BB52-B7BA-453A-B8F2-57EB47C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CEEA22-2675-415C-B887-27C0D483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6994B6-393C-46D1-876D-75005A3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提交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5B4B78-CE16-4F4D-BEB1-8BF0D850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408CF7-50C9-41A7-9B5E-807AC7E5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840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陌生生命科学领域先建模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7F2D90-F883-4D27-8496-03E22506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E12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76015E-37B7-4AD8-8BF8-18D5C6DC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840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只让有证据的链路进入真实叙事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8F6C7C-ED93-4266-BD2A-5BED5E86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9027DD-EDBD-4727-A600-26007C09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40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把用户截图反馈转成组件合同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32C5E1-908F-4D91-B94C-7AE5BEA7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53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9D8066-1627-4EFC-B95D-3541731C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840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用 TypeScript、Smoke、渲染和浏览器回归收口</a:t>
            </a:r>
          </a:p>
        </p:txBody>
      </p:sp>
    </p:spTree>
    <p:extLst>
      <p:ext uri="{BB962C8B-B14F-4D97-AF65-F5344CB8AC3E}">
        <p14:creationId xmlns:p14="http://schemas.microsoft.com/office/powerpoint/2010/main" val="17262151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3A45FB-8E79-432C-B0C0-7D8ADFA3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B8E12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7B8E12"/>
                </a:solidFill>
                <a:latin typeface="Menlo"/>
                <a:ea typeface="Menlo"/>
                <a:cs typeface="Menlo"/>
              </a:rPr>
              <a:t>33  现场验收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5B226-0B51-4165-A73A-71BD5456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面试官可以在 5–8 分钟重复主流程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A8466-8FB2-4228-B9C6-36FEFD1A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验收不依赖 PPT 自己说服人，入口、账号、命令和关键动作都可现场复现。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51A24-1FF4-4750-AA0A-9A58FDF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A13B9-00A5-4F00-AE64-C1A039CF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BioFlow Studio  /  生命科学智能体工作台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4F370-99F9-4DCE-908E-54F9E644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34365-F06E-4841-9700-EF54B2DF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F9B20-3C84-49C0-8599-59D0A0BD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CACC8-F506-43A7-86ED-0ABCCCB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0844B-6927-4518-A661-B8111432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96330-0D19-4E07-8032-738765A2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9CC4F-24B4-4044-BE4A-59A0A08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96E94-E1A0-4CB1-85F0-0E8D3A59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CC914-1A7E-449F-8CA1-E2A22E6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C7837-762A-4435-821D-1704FF81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26973-524E-4EC4-B539-B1071E2E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370FE-96EC-4D0C-BF14-C7379330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B396B-FCA0-489A-8F56-5FA26847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47604-AC49-4CC4-9092-4D99F675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82BD4-6D09-4F81-A835-BEA9F776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4DB55-654E-4628-9718-C777DF8D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21A4C-AB2D-4D04-A7E7-9A4DD045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E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1BB03-8EED-40E2-9C04-FE2C4F15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ECB88-8469-4115-B6B4-AB0E3B66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0716D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AC0E8-36E8-495E-9394-2A932A86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610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E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A3C37-33A3-4735-885B-FBC9C21E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6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7B8E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B78AC-033F-4688-96B9-A632844B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57975"/>
            <a:ext cx="30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176E64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196F6-586B-4817-AADF-419D8E9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C6CEEC-BB34-4AC5-BBD6-A6432B2A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43FE0-CF0D-4BE8-A063-9979CA1E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52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登录研究员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A9865-8324-458E-AA26-ECBA862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researcher / bioflow2026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CABD95-1476-4E0C-9836-457AD4E8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3543D-78F1-4B8A-9B81-64EC4B29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0C560A-4B16-4730-903C-75D8AB05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打开真实计算 + SSE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E5F223-15A3-4025-9496-4E62F34A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完成四项澄清，生成计划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D47E44-D64A-451C-ADC7-B6E8B4C9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27DDBD-BD77-4793-A578-913A03D8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042CB5-B80A-4E9B-82FB-D3FC4D40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展开运行过程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48FDC7-A512-4166-A477-6B4904EE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查看事件、等待对象和 payload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DCB68B-7FC5-4B49-809F-42AE6E71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E64"/>
          </a:solidFill>
          <a:ln xmlns:a="http://schemas.openxmlformats.org/drawingml/2006/main" w="9525">
            <a:solidFill>
              <a:srgbClr val="176E6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005B75-9323-4E65-9E30-54770197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5F37BE-1D7E-4073-B256-1A183607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52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审批并运行计算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2C5052-29D4-4BE6-8ACD-635B56B5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queued → running → completed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A08DB9-BF2B-410F-A47B-86331E95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E0B61C-4E82-4865-830A-EA1A2CCE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900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811BE5-74BC-4750-B8FA-9A020FCE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查看交付物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160A4B-1F7F-4EA6-9E33-1D33380C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16D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16D"/>
                </a:solidFill>
                <a:latin typeface="Menlo"/>
                <a:ea typeface="Menlo"/>
                <a:cs typeface="Menlo"/>
              </a:rPr>
              <a:t>火山图、报告、代码和血缘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0A8CBC-0B2F-43D5-9D3B-AC11FC2E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476500" cy="2438400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17302C"/>
          </a:solidFill>
          <a:ln xmlns:a="http://schemas.openxmlformats.org/drawingml/2006/main" w="9525">
            <a:solidFill>
              <a:srgbClr val="1730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95CBE4-B497-4C96-AEB0-3039AE61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FF337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DFF337"/>
                </a:solidFill>
                <a:latin typeface="Menlo"/>
                <a:ea typeface="Menlo"/>
                <a:cs typeface="Menlo"/>
              </a:rPr>
              <a:t>START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9784FC-6EDD-4F3D-BB98-BDB88415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60E47B-937C-4783-936E-BC27C611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C6D4D0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C6D4D0"/>
                </a:solidFill>
                <a:latin typeface="Menlo"/>
                <a:ea typeface="Menlo"/>
                <a:cs typeface="Menlo"/>
              </a:rPr>
              <a:t>127.0.0.1:3000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D89FFF-29A1-4A84-8C7A-144661FE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42E157-4E13-4017-8FF1-B01022B0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17302C"/>
                </a:solidFill>
                <a:latin typeface="PingFang SC"/>
                <a:ea typeface="PingFang SC"/>
                <a:cs typeface="PingFang SC"/>
              </a:rPr>
              <a:t>GitHub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6D94AA-03C5-4618-ADAE-404C20FE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95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6E64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6E64"/>
                </a:solidFill>
                <a:latin typeface="Menlo"/>
                <a:ea typeface="Menlo"/>
                <a:cs typeface="Menlo"/>
              </a:rPr>
              <a:t>github.com/fys-bot/bio-studio</a:t>
            </a:r>
          </a:p>
        </p:txBody>
      </p:sp>
    </p:spTree>
    <p:extLst>
      <p:ext uri="{BB962C8B-B14F-4D97-AF65-F5344CB8AC3E}">
        <p14:creationId xmlns:p14="http://schemas.microsoft.com/office/powerpoint/2010/main" val="14756368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73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86B891-E2AB-44F1-87F2-74E38E74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625B"/>
          </a:solidFill>
          <a:ln xmlns:a="http://schemas.openxmlformats.org/drawingml/2006/main" w="9525">
            <a:solidFill>
              <a:srgbClr val="4862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BBDE7-8F8F-4CBF-A6C5-025B410A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0DB14-90D8-4346-9734-236C25DA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62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F3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89118-DC21-4727-BF21-B9F20E70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52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登录与角色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FF4B2-318E-4682-BB17-7E9B0A2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625B"/>
          </a:solidFill>
          <a:ln xmlns:a="http://schemas.openxmlformats.org/drawingml/2006/main" w="9525">
            <a:solidFill>
              <a:srgbClr val="4862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84EB6-893E-4832-BD91-181A27C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85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C0772-2945-48DF-A09A-5585D113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62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F3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C2847-C864-4B1D-A120-EFC7E6F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52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85D75-BF9B-43B0-A01F-769CA2F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625B"/>
          </a:solidFill>
          <a:ln xmlns:a="http://schemas.openxmlformats.org/drawingml/2006/main" w="9525">
            <a:solidFill>
              <a:srgbClr val="4862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528E2-9F64-4CE5-9C5B-13E4613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85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A7128-9810-4150-9FEB-4278C186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62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F3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F883D-5F53-43F7-8D9F-E7251D65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0A9DA-D65B-464F-9E7F-C90CA21A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625B"/>
          </a:solidFill>
          <a:ln xmlns:a="http://schemas.openxmlformats.org/drawingml/2006/main" w="9525">
            <a:solidFill>
              <a:srgbClr val="4862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87F9B-EC96-402F-8B88-E32C9F92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85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4721C-83B5-418C-A6CC-18DA98DD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62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F3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0A637-1945-4DC5-A8C1-003EEB43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52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20FFA-FDAA-45C7-B55B-CAF17B58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625B"/>
          </a:solidFill>
          <a:ln xmlns:a="http://schemas.openxmlformats.org/drawingml/2006/main" w="9525">
            <a:solidFill>
              <a:srgbClr val="4862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84E7E-2B96-4775-BEC6-998A093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85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DBF3E-F56E-4463-AA4F-50C29D0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62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F3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0E57B-6CEB-493B-9FF6-2146961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52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0EA78-6E9D-4B20-A0F1-4CD8A06F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625B"/>
          </a:solidFill>
          <a:ln xmlns:a="http://schemas.openxmlformats.org/drawingml/2006/main" w="9525">
            <a:solidFill>
              <a:srgbClr val="486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652A4-5A2F-43EA-9650-99C4DBED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85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35A1B-113E-43C6-AF97-2191D644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62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FF33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44F71-8255-49F6-BD7D-DC8FDE5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3E0DC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A415CD-55F0-4A23-845D-34573CB1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37"/>
          </a:solidFill>
          <a:ln xmlns:a="http://schemas.openxmlformats.org/drawingml/2006/main" w="9525">
            <a:solidFill>
              <a:srgbClr val="DFF3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177A5-65D8-42B4-A53C-449C917E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68592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02C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17302C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5F087-B508-432F-8267-25480547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52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FF3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FF337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54D41-43DA-4689-9A30-F955184C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BioFlow Studio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77F44-477B-4993-A4DE-CF40B9D7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DFF33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DFF337"/>
                </a:solidFill>
                <a:latin typeface="PingFang SC"/>
                <a:ea typeface="PingFang SC"/>
                <a:cs typeface="PingFang SC"/>
              </a:rPr>
              <a:t>把生命科学分析从问题带到可审查、可干预、可复现的结果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BC5F0E-8E1D-4991-9850-6859E7E1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C6D4D0"/>
                </a:solidFill>
                <a:latin typeface="PingFang SC"/>
                <a:ea typeface="PingFang SC"/>
                <a:cs typeface="PingFang SC"/>
              </a:rPr>
              <a:t>需求逆向  ·  前后端闭环  ·  交互创新  ·  AI 辅助与安全边界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C130C-1289-403A-AFA7-1070BF2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真实能力有证据，Adapter 有边界，下一步有路径。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E68337-36E2-4515-B79B-CBFE3F7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EB4AD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9EB4AD"/>
                </a:solidFill>
                <a:latin typeface="Menlo"/>
                <a:ea typeface="Menlo"/>
                <a:cs typeface="Menlo"/>
              </a:rPr>
              <a:t>感谢观看  /  github.com/fys-bot/bio-studio</a:t>
            </a:r>
          </a:p>
        </p:txBody>
      </p:sp>
    </p:spTree>
    <p:extLst>
      <p:ext uri="{BB962C8B-B14F-4D97-AF65-F5344CB8AC3E}">
        <p14:creationId xmlns:p14="http://schemas.microsoft.com/office/powerpoint/2010/main" val="130226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2026-09-08T13:43:38.6150000Z</dcterms:created>
  <dcterms:modified xsi:type="dcterms:W3CDTF">2026-09-08T13:43:38.6150000Z</dcterms:modified>
</coreProperties>
</file>